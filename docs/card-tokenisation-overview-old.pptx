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0" y="6693408"/>
            <a:ext cx="12188952" cy="164592"/>
          </a:xfrm>
          <a:prstGeom prst="rect">
            <a:avLst/>
          </a:prstGeom>
          <a:solidFill>
            <a:srgbClr val="008C8C"/>
          </a:solidFill>
        </p:spPr>
        <p:txBody>
          <a:bodyPr wrap="square">
            <a:spAutoFit/>
          </a:bodyPr>
          <a:lstStyle/>
          <a:p/>
        </p:txBody>
      </p:sp>
      <p:sp>
        <p:nvSpPr>
          <p:cNvPr id="4" name="TextBox 3"/>
          <p:cNvSpPr txBox="1"/>
          <p:nvPr/>
        </p:nvSpPr>
        <p:spPr>
          <a:xfrm>
            <a:off x="1097280" y="1371600"/>
            <a:ext cx="10058400" cy="1097280"/>
          </a:xfrm>
          <a:prstGeom prst="rect">
            <a:avLst/>
          </a:prstGeom>
          <a:noFill/>
        </p:spPr>
        <p:txBody>
          <a:bodyPr wrap="square">
            <a:spAutoFit/>
          </a:bodyPr>
          <a:lstStyle/>
          <a:p>
            <a:pPr algn="ctr"/>
            <a:r>
              <a:rPr sz="5000" b="1">
                <a:solidFill>
                  <a:srgbClr val="FFFFFF"/>
                </a:solidFill>
              </a:rPr>
              <a:t>Card Tokenisation System</a:t>
            </a:r>
          </a:p>
        </p:txBody>
      </p:sp>
      <p:sp>
        <p:nvSpPr>
          <p:cNvPr id="5" name="TextBox 4"/>
          <p:cNvSpPr txBox="1"/>
          <p:nvPr/>
        </p:nvSpPr>
        <p:spPr>
          <a:xfrm>
            <a:off x="1097280" y="2560320"/>
            <a:ext cx="10058400" cy="548640"/>
          </a:xfrm>
          <a:prstGeom prst="rect">
            <a:avLst/>
          </a:prstGeom>
          <a:noFill/>
        </p:spPr>
        <p:txBody>
          <a:bodyPr wrap="square">
            <a:spAutoFit/>
          </a:bodyPr>
          <a:lstStyle/>
          <a:p>
            <a:pPr algn="ctr"/>
            <a:r>
              <a:rPr sz="2200" b="0">
                <a:solidFill>
                  <a:srgbClr val="B0C4DE"/>
                </a:solidFill>
              </a:rPr>
              <a:t>Keeping card numbers safe — without stopping payments</a:t>
            </a:r>
          </a:p>
        </p:txBody>
      </p:sp>
      <p:sp>
        <p:nvSpPr>
          <p:cNvPr id="6" name="TextBox 5"/>
          <p:cNvSpPr txBox="1"/>
          <p:nvPr/>
        </p:nvSpPr>
        <p:spPr>
          <a:xfrm>
            <a:off x="1097280" y="3383280"/>
            <a:ext cx="10058400" cy="457200"/>
          </a:xfrm>
          <a:prstGeom prst="rect">
            <a:avLst/>
          </a:prstGeom>
          <a:noFill/>
        </p:spPr>
        <p:txBody>
          <a:bodyPr wrap="square">
            <a:spAutoFit/>
          </a:bodyPr>
          <a:lstStyle/>
          <a:p>
            <a:pPr algn="ctr"/>
            <a:r>
              <a:rPr sz="1600" b="0">
                <a:solidFill>
                  <a:srgbClr val="55657A"/>
                </a:solidFill>
              </a:rPr>
              <a:t>A plain-language guide to how we protect payment data</a:t>
            </a:r>
          </a:p>
        </p:txBody>
      </p:sp>
      <p:sp>
        <p:nvSpPr>
          <p:cNvPr id="7" name="TextBox 6"/>
          <p:cNvSpPr txBox="1"/>
          <p:nvPr/>
        </p:nvSpPr>
        <p:spPr>
          <a:xfrm>
            <a:off x="1097280" y="6309360"/>
            <a:ext cx="10058400" cy="320040"/>
          </a:xfrm>
          <a:prstGeom prst="rect">
            <a:avLst/>
          </a:prstGeom>
          <a:noFill/>
        </p:spPr>
        <p:txBody>
          <a:bodyPr wrap="square">
            <a:spAutoFit/>
          </a:bodyPr>
          <a:lstStyle/>
          <a:p>
            <a:pPr algn="ctr"/>
            <a:r>
              <a:rPr sz="1200" b="0">
                <a:solidFill>
                  <a:srgbClr val="55657A"/>
                </a:solidFill>
              </a:rPr>
              <a:t>Confidential —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0D1B3E"/>
                </a:solidFill>
              </a:rPr>
              <a:t>The Problem: Every Copy of a Card Number Is a Risk</a:t>
            </a:r>
          </a:p>
        </p:txBody>
      </p:sp>
      <p:sp>
        <p:nvSpPr>
          <p:cNvPr id="4" name="TextBox 3"/>
          <p:cNvSpPr txBox="1"/>
          <p:nvPr/>
        </p:nvSpPr>
        <p:spPr>
          <a:xfrm>
            <a:off x="411480" y="1234440"/>
            <a:ext cx="3657600" cy="594360"/>
          </a:xfrm>
          <a:prstGeom prst="rect">
            <a:avLst/>
          </a:prstGeom>
          <a:solidFill>
            <a:srgbClr val="8C1A1A"/>
          </a:solidFill>
        </p:spPr>
        <p:txBody>
          <a:bodyPr wrap="square">
            <a:spAutoFit/>
          </a:bodyPr>
          <a:lstStyle/>
          <a:p>
            <a:pPr algn="ctr"/>
            <a:r>
              <a:rPr sz="1500" b="1">
                <a:solidFill>
                  <a:srgbClr val="FFFFFF"/>
                </a:solidFill>
              </a:rPr>
              <a:t>⚠  The Target</a:t>
            </a:r>
          </a:p>
        </p:txBody>
      </p:sp>
      <p:sp>
        <p:nvSpPr>
          <p:cNvPr id="5" name="TextBox 4"/>
          <p:cNvSpPr txBox="1"/>
          <p:nvPr/>
        </p:nvSpPr>
        <p:spPr>
          <a:xfrm>
            <a:off x="548640" y="1920240"/>
            <a:ext cx="3383280" cy="320040"/>
          </a:xfrm>
          <a:prstGeom prst="rect">
            <a:avLst/>
          </a:prstGeom>
          <a:noFill/>
        </p:spPr>
        <p:txBody>
          <a:bodyPr wrap="square">
            <a:spAutoFit/>
          </a:bodyPr>
          <a:lstStyle/>
          <a:p>
            <a:pPr algn="l"/>
            <a:r>
              <a:rPr sz="1300" b="0">
                <a:solidFill>
                  <a:srgbClr val="55657A"/>
                </a:solidFill>
              </a:rPr>
              <a:t>Real card numbers are stored</a:t>
            </a:r>
          </a:p>
        </p:txBody>
      </p:sp>
      <p:sp>
        <p:nvSpPr>
          <p:cNvPr id="6" name="TextBox 5"/>
          <p:cNvSpPr txBox="1"/>
          <p:nvPr/>
        </p:nvSpPr>
        <p:spPr>
          <a:xfrm>
            <a:off x="548640" y="2221992"/>
            <a:ext cx="3383280" cy="320040"/>
          </a:xfrm>
          <a:prstGeom prst="rect">
            <a:avLst/>
          </a:prstGeom>
          <a:noFill/>
        </p:spPr>
        <p:txBody>
          <a:bodyPr wrap="square">
            <a:spAutoFit/>
          </a:bodyPr>
          <a:lstStyle/>
          <a:p>
            <a:pPr algn="l"/>
            <a:r>
              <a:rPr sz="1300" b="0">
                <a:solidFill>
                  <a:srgbClr val="55657A"/>
                </a:solidFill>
              </a:rPr>
              <a:t>across many systems —</a:t>
            </a:r>
          </a:p>
        </p:txBody>
      </p:sp>
      <p:sp>
        <p:nvSpPr>
          <p:cNvPr id="7" name="TextBox 6"/>
          <p:cNvSpPr txBox="1"/>
          <p:nvPr/>
        </p:nvSpPr>
        <p:spPr>
          <a:xfrm>
            <a:off x="548640" y="2523744"/>
            <a:ext cx="3383280" cy="320040"/>
          </a:xfrm>
          <a:prstGeom prst="rect">
            <a:avLst/>
          </a:prstGeom>
          <a:noFill/>
        </p:spPr>
        <p:txBody>
          <a:bodyPr wrap="square">
            <a:spAutoFit/>
          </a:bodyPr>
          <a:lstStyle/>
          <a:p>
            <a:pPr algn="l"/>
            <a:r>
              <a:rPr sz="1300" b="0">
                <a:solidFill>
                  <a:srgbClr val="55657A"/>
                </a:solidFill>
              </a:rPr>
              <a:t>checkout, payments, CRM,</a:t>
            </a:r>
          </a:p>
        </p:txBody>
      </p:sp>
      <p:sp>
        <p:nvSpPr>
          <p:cNvPr id="8" name="TextBox 7"/>
          <p:cNvSpPr txBox="1"/>
          <p:nvPr/>
        </p:nvSpPr>
        <p:spPr>
          <a:xfrm>
            <a:off x="548640" y="2825496"/>
            <a:ext cx="3383280" cy="320040"/>
          </a:xfrm>
          <a:prstGeom prst="rect">
            <a:avLst/>
          </a:prstGeom>
          <a:noFill/>
        </p:spPr>
        <p:txBody>
          <a:bodyPr wrap="square">
            <a:spAutoFit/>
          </a:bodyPr>
          <a:lstStyle/>
          <a:p>
            <a:pPr algn="l"/>
            <a:r>
              <a:rPr sz="1300" b="0">
                <a:solidFill>
                  <a:srgbClr val="55657A"/>
                </a:solidFill>
              </a:rPr>
              <a:t>analytics, logs.</a:t>
            </a:r>
          </a:p>
        </p:txBody>
      </p:sp>
      <p:sp>
        <p:nvSpPr>
          <p:cNvPr id="9" name="TextBox 8"/>
          <p:cNvSpPr txBox="1"/>
          <p:nvPr/>
        </p:nvSpPr>
        <p:spPr>
          <a:xfrm>
            <a:off x="548640" y="3127248"/>
            <a:ext cx="3383280" cy="320040"/>
          </a:xfrm>
          <a:prstGeom prst="rect">
            <a:avLst/>
          </a:prstGeom>
          <a:noFill/>
        </p:spPr>
        <p:txBody>
          <a:bodyPr wrap="square">
            <a:spAutoFit/>
          </a:bodyPr>
          <a:lstStyle/>
          <a:p>
            <a:pPr algn="l"/>
            <a:r>
              <a:rPr sz="1300" b="0">
                <a:solidFill>
                  <a:srgbClr val="55657A"/>
                </a:solidFill>
              </a:rPr>
              <a:t/>
            </a:r>
          </a:p>
        </p:txBody>
      </p:sp>
      <p:sp>
        <p:nvSpPr>
          <p:cNvPr id="10" name="TextBox 9"/>
          <p:cNvSpPr txBox="1"/>
          <p:nvPr/>
        </p:nvSpPr>
        <p:spPr>
          <a:xfrm>
            <a:off x="548640" y="3429000"/>
            <a:ext cx="3383280" cy="320040"/>
          </a:xfrm>
          <a:prstGeom prst="rect">
            <a:avLst/>
          </a:prstGeom>
          <a:noFill/>
        </p:spPr>
        <p:txBody>
          <a:bodyPr wrap="square">
            <a:spAutoFit/>
          </a:bodyPr>
          <a:lstStyle/>
          <a:p>
            <a:pPr algn="l"/>
            <a:r>
              <a:rPr sz="1300" b="0">
                <a:solidFill>
                  <a:srgbClr val="55657A"/>
                </a:solidFill>
              </a:rPr>
              <a:t>Every copy is a target.</a:t>
            </a:r>
          </a:p>
        </p:txBody>
      </p:sp>
      <p:sp>
        <p:nvSpPr>
          <p:cNvPr id="11" name="TextBox 10"/>
          <p:cNvSpPr txBox="1"/>
          <p:nvPr/>
        </p:nvSpPr>
        <p:spPr>
          <a:xfrm>
            <a:off x="548640" y="3730752"/>
            <a:ext cx="3383280" cy="320040"/>
          </a:xfrm>
          <a:prstGeom prst="rect">
            <a:avLst/>
          </a:prstGeom>
          <a:noFill/>
        </p:spPr>
        <p:txBody>
          <a:bodyPr wrap="square">
            <a:spAutoFit/>
          </a:bodyPr>
          <a:lstStyle/>
          <a:p>
            <a:pPr algn="l"/>
            <a:r>
              <a:rPr sz="1300" b="0">
                <a:solidFill>
                  <a:srgbClr val="55657A"/>
                </a:solidFill>
              </a:rPr>
              <a:t>One breach exposes them all.</a:t>
            </a:r>
          </a:p>
        </p:txBody>
      </p:sp>
      <p:sp>
        <p:nvSpPr>
          <p:cNvPr id="12" name="TextBox 11"/>
          <p:cNvSpPr txBox="1"/>
          <p:nvPr/>
        </p:nvSpPr>
        <p:spPr>
          <a:xfrm>
            <a:off x="4297680" y="1234440"/>
            <a:ext cx="3657600" cy="594360"/>
          </a:xfrm>
          <a:prstGeom prst="rect">
            <a:avLst/>
          </a:prstGeom>
          <a:solidFill>
            <a:srgbClr val="5A3A8C"/>
          </a:solidFill>
        </p:spPr>
        <p:txBody>
          <a:bodyPr wrap="square">
            <a:spAutoFit/>
          </a:bodyPr>
          <a:lstStyle/>
          <a:p>
            <a:pPr algn="ctr"/>
            <a:r>
              <a:rPr sz="1500" b="1">
                <a:solidFill>
                  <a:srgbClr val="FFFFFF"/>
                </a:solidFill>
              </a:rPr>
              <a:t>💸  The Cost</a:t>
            </a:r>
          </a:p>
        </p:txBody>
      </p:sp>
      <p:sp>
        <p:nvSpPr>
          <p:cNvPr id="13" name="TextBox 12"/>
          <p:cNvSpPr txBox="1"/>
          <p:nvPr/>
        </p:nvSpPr>
        <p:spPr>
          <a:xfrm>
            <a:off x="4434840" y="1920240"/>
            <a:ext cx="3383280" cy="320040"/>
          </a:xfrm>
          <a:prstGeom prst="rect">
            <a:avLst/>
          </a:prstGeom>
          <a:noFill/>
        </p:spPr>
        <p:txBody>
          <a:bodyPr wrap="square">
            <a:spAutoFit/>
          </a:bodyPr>
          <a:lstStyle/>
          <a:p>
            <a:pPr algn="l"/>
            <a:r>
              <a:rPr sz="1300" b="0">
                <a:solidFill>
                  <a:srgbClr val="55657A"/>
                </a:solidFill>
              </a:rPr>
              <a:t>A stolen card number can be</a:t>
            </a:r>
          </a:p>
        </p:txBody>
      </p:sp>
      <p:sp>
        <p:nvSpPr>
          <p:cNvPr id="14" name="TextBox 13"/>
          <p:cNvSpPr txBox="1"/>
          <p:nvPr/>
        </p:nvSpPr>
        <p:spPr>
          <a:xfrm>
            <a:off x="4434840" y="2221992"/>
            <a:ext cx="3383280" cy="320040"/>
          </a:xfrm>
          <a:prstGeom prst="rect">
            <a:avLst/>
          </a:prstGeom>
          <a:noFill/>
        </p:spPr>
        <p:txBody>
          <a:bodyPr wrap="square">
            <a:spAutoFit/>
          </a:bodyPr>
          <a:lstStyle/>
          <a:p>
            <a:pPr algn="l"/>
            <a:r>
              <a:rPr sz="1300" b="0">
                <a:solidFill>
                  <a:srgbClr val="55657A"/>
                </a:solidFill>
              </a:rPr>
              <a:t>used immediately for fraud.</a:t>
            </a:r>
          </a:p>
        </p:txBody>
      </p:sp>
      <p:sp>
        <p:nvSpPr>
          <p:cNvPr id="15" name="TextBox 14"/>
          <p:cNvSpPr txBox="1"/>
          <p:nvPr/>
        </p:nvSpPr>
        <p:spPr>
          <a:xfrm>
            <a:off x="4434840" y="2523744"/>
            <a:ext cx="3383280" cy="320040"/>
          </a:xfrm>
          <a:prstGeom prst="rect">
            <a:avLst/>
          </a:prstGeom>
          <a:noFill/>
        </p:spPr>
        <p:txBody>
          <a:bodyPr wrap="square">
            <a:spAutoFit/>
          </a:bodyPr>
          <a:lstStyle/>
          <a:p>
            <a:pPr algn="l"/>
            <a:r>
              <a:rPr sz="1300" b="0">
                <a:solidFill>
                  <a:srgbClr val="55657A"/>
                </a:solidFill>
              </a:rPr>
              <a:t/>
            </a:r>
          </a:p>
        </p:txBody>
      </p:sp>
      <p:sp>
        <p:nvSpPr>
          <p:cNvPr id="16" name="TextBox 15"/>
          <p:cNvSpPr txBox="1"/>
          <p:nvPr/>
        </p:nvSpPr>
        <p:spPr>
          <a:xfrm>
            <a:off x="4434840" y="2825496"/>
            <a:ext cx="3383280" cy="320040"/>
          </a:xfrm>
          <a:prstGeom prst="rect">
            <a:avLst/>
          </a:prstGeom>
          <a:noFill/>
        </p:spPr>
        <p:txBody>
          <a:bodyPr wrap="square">
            <a:spAutoFit/>
          </a:bodyPr>
          <a:lstStyle/>
          <a:p>
            <a:pPr algn="l"/>
            <a:r>
              <a:rPr sz="1300" b="0">
                <a:solidFill>
                  <a:srgbClr val="55657A"/>
                </a:solidFill>
              </a:rPr>
              <a:t>Average cost of a breach:</a:t>
            </a:r>
          </a:p>
        </p:txBody>
      </p:sp>
      <p:sp>
        <p:nvSpPr>
          <p:cNvPr id="17" name="TextBox 16"/>
          <p:cNvSpPr txBox="1"/>
          <p:nvPr/>
        </p:nvSpPr>
        <p:spPr>
          <a:xfrm>
            <a:off x="4434840" y="3127248"/>
            <a:ext cx="3383280" cy="320040"/>
          </a:xfrm>
          <a:prstGeom prst="rect">
            <a:avLst/>
          </a:prstGeom>
          <a:noFill/>
        </p:spPr>
        <p:txBody>
          <a:bodyPr wrap="square">
            <a:spAutoFit/>
          </a:bodyPr>
          <a:lstStyle/>
          <a:p>
            <a:pPr algn="l"/>
            <a:r>
              <a:rPr sz="1300" b="0">
                <a:solidFill>
                  <a:srgbClr val="55657A"/>
                </a:solidFill>
              </a:rPr>
              <a:t>millions in fines, fraud</a:t>
            </a:r>
          </a:p>
        </p:txBody>
      </p:sp>
      <p:sp>
        <p:nvSpPr>
          <p:cNvPr id="18" name="TextBox 17"/>
          <p:cNvSpPr txBox="1"/>
          <p:nvPr/>
        </p:nvSpPr>
        <p:spPr>
          <a:xfrm>
            <a:off x="4434840" y="3429000"/>
            <a:ext cx="3383280" cy="320040"/>
          </a:xfrm>
          <a:prstGeom prst="rect">
            <a:avLst/>
          </a:prstGeom>
          <a:noFill/>
        </p:spPr>
        <p:txBody>
          <a:bodyPr wrap="square">
            <a:spAutoFit/>
          </a:bodyPr>
          <a:lstStyle/>
          <a:p>
            <a:pPr algn="l"/>
            <a:r>
              <a:rPr sz="1300" b="0">
                <a:solidFill>
                  <a:srgbClr val="55657A"/>
                </a:solidFill>
              </a:rPr>
              <a:t>reimbursement, and reputation</a:t>
            </a:r>
          </a:p>
        </p:txBody>
      </p:sp>
      <p:sp>
        <p:nvSpPr>
          <p:cNvPr id="19" name="TextBox 18"/>
          <p:cNvSpPr txBox="1"/>
          <p:nvPr/>
        </p:nvSpPr>
        <p:spPr>
          <a:xfrm>
            <a:off x="4434840" y="3730752"/>
            <a:ext cx="3383280" cy="320040"/>
          </a:xfrm>
          <a:prstGeom prst="rect">
            <a:avLst/>
          </a:prstGeom>
          <a:noFill/>
        </p:spPr>
        <p:txBody>
          <a:bodyPr wrap="square">
            <a:spAutoFit/>
          </a:bodyPr>
          <a:lstStyle/>
          <a:p>
            <a:pPr algn="l"/>
            <a:r>
              <a:rPr sz="1300" b="0">
                <a:solidFill>
                  <a:srgbClr val="55657A"/>
                </a:solidFill>
              </a:rPr>
              <a:t>damage.</a:t>
            </a:r>
          </a:p>
        </p:txBody>
      </p:sp>
      <p:sp>
        <p:nvSpPr>
          <p:cNvPr id="20" name="TextBox 19"/>
          <p:cNvSpPr txBox="1"/>
          <p:nvPr/>
        </p:nvSpPr>
        <p:spPr>
          <a:xfrm>
            <a:off x="8183879" y="1234440"/>
            <a:ext cx="3657600" cy="594360"/>
          </a:xfrm>
          <a:prstGeom prst="rect">
            <a:avLst/>
          </a:prstGeom>
          <a:solidFill>
            <a:srgbClr val="1A5C8C"/>
          </a:solidFill>
        </p:spPr>
        <p:txBody>
          <a:bodyPr wrap="square">
            <a:spAutoFit/>
          </a:bodyPr>
          <a:lstStyle/>
          <a:p>
            <a:pPr algn="ctr"/>
            <a:r>
              <a:rPr sz="1500" b="1">
                <a:solidFill>
                  <a:srgbClr val="FFFFFF"/>
                </a:solidFill>
              </a:rPr>
              <a:t>📋  The Compliance Burden</a:t>
            </a:r>
          </a:p>
        </p:txBody>
      </p:sp>
      <p:sp>
        <p:nvSpPr>
          <p:cNvPr id="21" name="TextBox 20"/>
          <p:cNvSpPr txBox="1"/>
          <p:nvPr/>
        </p:nvSpPr>
        <p:spPr>
          <a:xfrm>
            <a:off x="8321040" y="1920240"/>
            <a:ext cx="3383280" cy="320040"/>
          </a:xfrm>
          <a:prstGeom prst="rect">
            <a:avLst/>
          </a:prstGeom>
          <a:noFill/>
        </p:spPr>
        <p:txBody>
          <a:bodyPr wrap="square">
            <a:spAutoFit/>
          </a:bodyPr>
          <a:lstStyle/>
          <a:p>
            <a:pPr algn="l"/>
            <a:r>
              <a:rPr sz="1300" b="0">
                <a:solidFill>
                  <a:srgbClr val="55657A"/>
                </a:solidFill>
              </a:rPr>
              <a:t>PCI-DSS mandates strict security</a:t>
            </a:r>
          </a:p>
        </p:txBody>
      </p:sp>
      <p:sp>
        <p:nvSpPr>
          <p:cNvPr id="22" name="TextBox 21"/>
          <p:cNvSpPr txBox="1"/>
          <p:nvPr/>
        </p:nvSpPr>
        <p:spPr>
          <a:xfrm>
            <a:off x="8321040" y="2221992"/>
            <a:ext cx="3383280" cy="320040"/>
          </a:xfrm>
          <a:prstGeom prst="rect">
            <a:avLst/>
          </a:prstGeom>
          <a:noFill/>
        </p:spPr>
        <p:txBody>
          <a:bodyPr wrap="square">
            <a:spAutoFit/>
          </a:bodyPr>
          <a:lstStyle/>
          <a:p>
            <a:pPr algn="l"/>
            <a:r>
              <a:rPr sz="1300" b="0">
                <a:solidFill>
                  <a:srgbClr val="55657A"/>
                </a:solidFill>
              </a:rPr>
              <a:t>controls on every system that</a:t>
            </a:r>
          </a:p>
        </p:txBody>
      </p:sp>
      <p:sp>
        <p:nvSpPr>
          <p:cNvPr id="23" name="TextBox 22"/>
          <p:cNvSpPr txBox="1"/>
          <p:nvPr/>
        </p:nvSpPr>
        <p:spPr>
          <a:xfrm>
            <a:off x="8321040" y="2523744"/>
            <a:ext cx="3383280" cy="320040"/>
          </a:xfrm>
          <a:prstGeom prst="rect">
            <a:avLst/>
          </a:prstGeom>
          <a:noFill/>
        </p:spPr>
        <p:txBody>
          <a:bodyPr wrap="square">
            <a:spAutoFit/>
          </a:bodyPr>
          <a:lstStyle/>
          <a:p>
            <a:pPr algn="l"/>
            <a:r>
              <a:rPr sz="1300" b="0">
                <a:solidFill>
                  <a:srgbClr val="55657A"/>
                </a:solidFill>
              </a:rPr>
              <a:t>touches a card number.</a:t>
            </a:r>
          </a:p>
        </p:txBody>
      </p:sp>
      <p:sp>
        <p:nvSpPr>
          <p:cNvPr id="24" name="TextBox 23"/>
          <p:cNvSpPr txBox="1"/>
          <p:nvPr/>
        </p:nvSpPr>
        <p:spPr>
          <a:xfrm>
            <a:off x="8321040" y="2825496"/>
            <a:ext cx="3383280" cy="320040"/>
          </a:xfrm>
          <a:prstGeom prst="rect">
            <a:avLst/>
          </a:prstGeom>
          <a:noFill/>
        </p:spPr>
        <p:txBody>
          <a:bodyPr wrap="square">
            <a:spAutoFit/>
          </a:bodyPr>
          <a:lstStyle/>
          <a:p>
            <a:pPr algn="l"/>
            <a:r>
              <a:rPr sz="1300" b="0">
                <a:solidFill>
                  <a:srgbClr val="55657A"/>
                </a:solidFill>
              </a:rPr>
              <a:t/>
            </a:r>
          </a:p>
        </p:txBody>
      </p:sp>
      <p:sp>
        <p:nvSpPr>
          <p:cNvPr id="25" name="TextBox 24"/>
          <p:cNvSpPr txBox="1"/>
          <p:nvPr/>
        </p:nvSpPr>
        <p:spPr>
          <a:xfrm>
            <a:off x="8321040" y="3127248"/>
            <a:ext cx="3383280" cy="320040"/>
          </a:xfrm>
          <a:prstGeom prst="rect">
            <a:avLst/>
          </a:prstGeom>
          <a:noFill/>
        </p:spPr>
        <p:txBody>
          <a:bodyPr wrap="square">
            <a:spAutoFit/>
          </a:bodyPr>
          <a:lstStyle/>
          <a:p>
            <a:pPr algn="l"/>
            <a:r>
              <a:rPr sz="1300" b="0">
                <a:solidFill>
                  <a:srgbClr val="55657A"/>
                </a:solidFill>
              </a:rPr>
              <a:t>More copies = more systems</a:t>
            </a:r>
          </a:p>
        </p:txBody>
      </p:sp>
      <p:sp>
        <p:nvSpPr>
          <p:cNvPr id="26" name="TextBox 25"/>
          <p:cNvSpPr txBox="1"/>
          <p:nvPr/>
        </p:nvSpPr>
        <p:spPr>
          <a:xfrm>
            <a:off x="8321040" y="3429000"/>
            <a:ext cx="3383280" cy="320040"/>
          </a:xfrm>
          <a:prstGeom prst="rect">
            <a:avLst/>
          </a:prstGeom>
          <a:noFill/>
        </p:spPr>
        <p:txBody>
          <a:bodyPr wrap="square">
            <a:spAutoFit/>
          </a:bodyPr>
          <a:lstStyle/>
          <a:p>
            <a:pPr algn="l"/>
            <a:r>
              <a:rPr sz="1300" b="0">
                <a:solidFill>
                  <a:srgbClr val="55657A"/>
                </a:solidFill>
              </a:rPr>
              <a:t>in scope = more audits</a:t>
            </a:r>
          </a:p>
        </p:txBody>
      </p:sp>
      <p:sp>
        <p:nvSpPr>
          <p:cNvPr id="27" name="TextBox 26"/>
          <p:cNvSpPr txBox="1"/>
          <p:nvPr/>
        </p:nvSpPr>
        <p:spPr>
          <a:xfrm>
            <a:off x="8321040" y="3730752"/>
            <a:ext cx="3383280" cy="320040"/>
          </a:xfrm>
          <a:prstGeom prst="rect">
            <a:avLst/>
          </a:prstGeom>
          <a:noFill/>
        </p:spPr>
        <p:txBody>
          <a:bodyPr wrap="square">
            <a:spAutoFit/>
          </a:bodyPr>
          <a:lstStyle/>
          <a:p>
            <a:pPr algn="l"/>
            <a:r>
              <a:rPr sz="1300" b="0">
                <a:solidFill>
                  <a:srgbClr val="55657A"/>
                </a:solidFill>
              </a:rPr>
              <a:t>= more cost.</a:t>
            </a:r>
          </a:p>
        </p:txBody>
      </p:sp>
      <p:sp>
        <p:nvSpPr>
          <p:cNvPr id="28" name="TextBox 27"/>
          <p:cNvSpPr txBox="1"/>
          <p:nvPr/>
        </p:nvSpPr>
        <p:spPr>
          <a:xfrm>
            <a:off x="365760" y="5029200"/>
            <a:ext cx="11430000" cy="548640"/>
          </a:xfrm>
          <a:prstGeom prst="rect">
            <a:avLst/>
          </a:prstGeom>
          <a:noFill/>
        </p:spPr>
        <p:txBody>
          <a:bodyPr wrap="square">
            <a:spAutoFit/>
          </a:bodyPr>
          <a:lstStyle/>
          <a:p>
            <a:pPr algn="ctr"/>
            <a:r>
              <a:rPr sz="1700" b="1">
                <a:solidFill>
                  <a:srgbClr val="008C8C"/>
                </a:solidFill>
              </a:rPr>
              <a:t>The Solution: replace the real card number with a safe stand-in everywhere except the vault.</a:t>
            </a:r>
          </a:p>
        </p:txBody>
      </p:sp>
      <p:sp>
        <p:nvSpPr>
          <p:cNvPr id="29" name="TextBox 28"/>
          <p:cNvSpPr txBox="1"/>
          <p:nvPr/>
        </p:nvSpPr>
        <p:spPr>
          <a:xfrm>
            <a:off x="457200" y="5669280"/>
            <a:ext cx="5212080" cy="640080"/>
          </a:xfrm>
          <a:prstGeom prst="rect">
            <a:avLst/>
          </a:prstGeom>
          <a:solidFill>
            <a:srgbClr val="8C1A1A"/>
          </a:solidFill>
        </p:spPr>
        <p:txBody>
          <a:bodyPr wrap="square">
            <a:spAutoFit/>
          </a:bodyPr>
          <a:lstStyle/>
          <a:p>
            <a:pPr algn="ctr"/>
            <a:r>
              <a:rPr sz="1400" b="0">
                <a:solidFill>
                  <a:srgbClr val="FFFFFF"/>
                </a:solidFill>
              </a:rPr>
              <a:t>5412 7534 9823 1049  ← Real card (dangerous to store)</a:t>
            </a:r>
          </a:p>
        </p:txBody>
      </p:sp>
      <p:sp>
        <p:nvSpPr>
          <p:cNvPr id="30" name="TextBox 29"/>
          <p:cNvSpPr txBox="1"/>
          <p:nvPr/>
        </p:nvSpPr>
        <p:spPr>
          <a:xfrm>
            <a:off x="5760720" y="5779008"/>
            <a:ext cx="457200" cy="457200"/>
          </a:xfrm>
          <a:prstGeom prst="rect">
            <a:avLst/>
          </a:prstGeom>
          <a:noFill/>
        </p:spPr>
        <p:txBody>
          <a:bodyPr wrap="square">
            <a:spAutoFit/>
          </a:bodyPr>
          <a:lstStyle/>
          <a:p>
            <a:pPr algn="ctr"/>
            <a:r>
              <a:rPr sz="2400" b="0">
                <a:solidFill>
                  <a:srgbClr val="008C8C"/>
                </a:solidFill>
              </a:rPr>
              <a:t>→</a:t>
            </a:r>
          </a:p>
        </p:txBody>
      </p:sp>
      <p:sp>
        <p:nvSpPr>
          <p:cNvPr id="31" name="TextBox 30"/>
          <p:cNvSpPr txBox="1"/>
          <p:nvPr/>
        </p:nvSpPr>
        <p:spPr>
          <a:xfrm>
            <a:off x="6309360" y="5669280"/>
            <a:ext cx="5486400" cy="640080"/>
          </a:xfrm>
          <a:prstGeom prst="rect">
            <a:avLst/>
          </a:prstGeom>
          <a:solidFill>
            <a:srgbClr val="1A8C4E"/>
          </a:solidFill>
        </p:spPr>
        <p:txBody>
          <a:bodyPr wrap="square">
            <a:spAutoFit/>
          </a:bodyPr>
          <a:lstStyle/>
          <a:p>
            <a:pPr algn="ctr"/>
            <a:r>
              <a:rPr sz="1400" b="0">
                <a:solidFill>
                  <a:srgbClr val="FFFFFF"/>
                </a:solidFill>
              </a:rPr>
              <a:t>3a4f9d2e-1b5c-4f8a-a3e7  ← Token (safe to store anywhere)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FFFFFF"/>
                </a:solidFill>
              </a:rPr>
              <a:t>Three Layers of Protection</a:t>
            </a:r>
          </a:p>
        </p:txBody>
      </p:sp>
      <p:sp>
        <p:nvSpPr>
          <p:cNvPr id="4" name="TextBox 3"/>
          <p:cNvSpPr txBox="1"/>
          <p:nvPr/>
        </p:nvSpPr>
        <p:spPr>
          <a:xfrm>
            <a:off x="365760" y="777240"/>
            <a:ext cx="11430000" cy="347472"/>
          </a:xfrm>
          <a:prstGeom prst="rect">
            <a:avLst/>
          </a:prstGeom>
          <a:noFill/>
        </p:spPr>
        <p:txBody>
          <a:bodyPr wrap="square">
            <a:spAutoFit/>
          </a:bodyPr>
          <a:lstStyle/>
          <a:p>
            <a:pPr algn="l"/>
            <a:r>
              <a:rPr sz="1400" b="0">
                <a:solidFill>
                  <a:srgbClr val="B0C4DE"/>
                </a:solidFill>
              </a:rPr>
              <a:t>Before we see the flows — here is the mental model</a:t>
            </a:r>
          </a:p>
        </p:txBody>
      </p:sp>
      <p:sp>
        <p:nvSpPr>
          <p:cNvPr id="5" name="TextBox 4"/>
          <p:cNvSpPr txBox="1"/>
          <p:nvPr/>
        </p:nvSpPr>
        <p:spPr>
          <a:xfrm>
            <a:off x="365760" y="1234440"/>
            <a:ext cx="7589520" cy="5120640"/>
          </a:xfrm>
          <a:prstGeom prst="rect">
            <a:avLst/>
          </a:prstGeom>
          <a:solidFill>
            <a:srgbClr val="1A5C8C"/>
          </a:solidFill>
          <a:ln w="25400">
            <a:solidFill>
              <a:srgbClr val="008C8C"/>
            </a:solidFill>
          </a:ln>
        </p:spPr>
        <p:txBody>
          <a:bodyPr wrap="square">
            <a:spAutoFit/>
          </a:bodyPr>
          <a:lstStyle/>
          <a:p/>
        </p:txBody>
      </p:sp>
      <p:sp>
        <p:nvSpPr>
          <p:cNvPr id="6" name="TextBox 5"/>
          <p:cNvSpPr txBox="1"/>
          <p:nvPr/>
        </p:nvSpPr>
        <p:spPr>
          <a:xfrm>
            <a:off x="502920" y="1325880"/>
            <a:ext cx="6858000" cy="411480"/>
          </a:xfrm>
          <a:prstGeom prst="rect">
            <a:avLst/>
          </a:prstGeom>
          <a:noFill/>
        </p:spPr>
        <p:txBody>
          <a:bodyPr wrap="square">
            <a:spAutoFit/>
          </a:bodyPr>
          <a:lstStyle/>
          <a:p>
            <a:pPr algn="l"/>
            <a:r>
              <a:rPr sz="1200" b="1">
                <a:solidFill>
                  <a:srgbClr val="B0C4DE"/>
                </a:solidFill>
              </a:rPr>
              <a:t>LAYER 3 — Master Key (KEK)  ·  Lives entirely inside AWS KMS — never in our servers</a:t>
            </a:r>
          </a:p>
        </p:txBody>
      </p:sp>
      <p:sp>
        <p:nvSpPr>
          <p:cNvPr id="7" name="TextBox 6"/>
          <p:cNvSpPr txBox="1"/>
          <p:nvPr/>
        </p:nvSpPr>
        <p:spPr>
          <a:xfrm>
            <a:off x="640080" y="1874519"/>
            <a:ext cx="7223760" cy="3931920"/>
          </a:xfrm>
          <a:prstGeom prst="rect">
            <a:avLst/>
          </a:prstGeom>
          <a:solidFill>
            <a:srgbClr val="5A3A8C"/>
          </a:solidFill>
          <a:ln w="25400">
            <a:solidFill>
              <a:srgbClr val="C87F00"/>
            </a:solidFill>
          </a:ln>
        </p:spPr>
        <p:txBody>
          <a:bodyPr wrap="square">
            <a:spAutoFit/>
          </a:bodyPr>
          <a:lstStyle/>
          <a:p/>
        </p:txBody>
      </p:sp>
      <p:sp>
        <p:nvSpPr>
          <p:cNvPr id="8" name="TextBox 7"/>
          <p:cNvSpPr txBox="1"/>
          <p:nvPr/>
        </p:nvSpPr>
        <p:spPr>
          <a:xfrm>
            <a:off x="777240" y="1965960"/>
            <a:ext cx="6400800" cy="411480"/>
          </a:xfrm>
          <a:prstGeom prst="rect">
            <a:avLst/>
          </a:prstGeom>
          <a:noFill/>
        </p:spPr>
        <p:txBody>
          <a:bodyPr wrap="square">
            <a:spAutoFit/>
          </a:bodyPr>
          <a:lstStyle/>
          <a:p>
            <a:pPr algn="l"/>
            <a:r>
              <a:rPr sz="1200" b="1">
                <a:solidFill>
                  <a:srgbClr val="B0C4DE"/>
                </a:solidFill>
              </a:rPr>
              <a:t>LAYER 2 — Data Key (DEK)  ·  A unique padlock generated fresh for every card</a:t>
            </a:r>
          </a:p>
        </p:txBody>
      </p:sp>
      <p:sp>
        <p:nvSpPr>
          <p:cNvPr id="9" name="TextBox 8"/>
          <p:cNvSpPr txBox="1"/>
          <p:nvPr/>
        </p:nvSpPr>
        <p:spPr>
          <a:xfrm>
            <a:off x="868680" y="2560320"/>
            <a:ext cx="6858000" cy="2697480"/>
          </a:xfrm>
          <a:prstGeom prst="rect">
            <a:avLst/>
          </a:prstGeom>
          <a:solidFill>
            <a:srgbClr val="0D1B3E"/>
          </a:solidFill>
          <a:ln w="12700">
            <a:solidFill>
              <a:srgbClr val="FFFFFF"/>
            </a:solidFill>
          </a:ln>
        </p:spPr>
        <p:txBody>
          <a:bodyPr wrap="square">
            <a:spAutoFit/>
          </a:bodyPr>
          <a:lstStyle/>
          <a:p/>
        </p:txBody>
      </p:sp>
      <p:sp>
        <p:nvSpPr>
          <p:cNvPr id="10" name="TextBox 9"/>
          <p:cNvSpPr txBox="1"/>
          <p:nvPr/>
        </p:nvSpPr>
        <p:spPr>
          <a:xfrm>
            <a:off x="1005840" y="2651760"/>
            <a:ext cx="6400800" cy="411480"/>
          </a:xfrm>
          <a:prstGeom prst="rect">
            <a:avLst/>
          </a:prstGeom>
          <a:noFill/>
        </p:spPr>
        <p:txBody>
          <a:bodyPr wrap="square">
            <a:spAutoFit/>
          </a:bodyPr>
          <a:lstStyle/>
          <a:p>
            <a:pPr algn="l"/>
            <a:r>
              <a:rPr sz="1200" b="1">
                <a:solidFill>
                  <a:srgbClr val="FFFFFF"/>
                </a:solidFill>
              </a:rPr>
              <a:t>LAYER 1 — Encrypted Card Number (PAN)  ·  The actual card data, scrambled</a:t>
            </a:r>
          </a:p>
        </p:txBody>
      </p:sp>
      <p:sp>
        <p:nvSpPr>
          <p:cNvPr id="11" name="TextBox 10"/>
          <p:cNvSpPr txBox="1"/>
          <p:nvPr/>
        </p:nvSpPr>
        <p:spPr>
          <a:xfrm>
            <a:off x="1005840" y="3154680"/>
            <a:ext cx="6400800" cy="365760"/>
          </a:xfrm>
          <a:prstGeom prst="rect">
            <a:avLst/>
          </a:prstGeom>
          <a:noFill/>
        </p:spPr>
        <p:txBody>
          <a:bodyPr wrap="square">
            <a:spAutoFit/>
          </a:bodyPr>
          <a:lstStyle/>
          <a:p>
            <a:pPr algn="l"/>
            <a:r>
              <a:rPr sz="1300" b="0">
                <a:solidFill>
                  <a:srgbClr val="D8E0EA"/>
                </a:solidFill>
              </a:rPr>
              <a:t>Original:    5412 7534 9823 1049</a:t>
            </a:r>
          </a:p>
        </p:txBody>
      </p:sp>
      <p:sp>
        <p:nvSpPr>
          <p:cNvPr id="12" name="TextBox 11"/>
          <p:cNvSpPr txBox="1"/>
          <p:nvPr/>
        </p:nvSpPr>
        <p:spPr>
          <a:xfrm>
            <a:off x="1005840" y="3520440"/>
            <a:ext cx="6400800" cy="365760"/>
          </a:xfrm>
          <a:prstGeom prst="rect">
            <a:avLst/>
          </a:prstGeom>
          <a:noFill/>
        </p:spPr>
        <p:txBody>
          <a:bodyPr wrap="square">
            <a:spAutoFit/>
          </a:bodyPr>
          <a:lstStyle/>
          <a:p>
            <a:pPr algn="l"/>
            <a:r>
              <a:rPr sz="1300" b="0">
                <a:solidFill>
                  <a:srgbClr val="008C8C"/>
                </a:solidFill>
              </a:rPr>
              <a:t>Stored as:  ▓▒░▓▒▒░▓▒░▓▒░▓░▓▒░▓▒▓░▒░▓░▒▓▒</a:t>
            </a:r>
          </a:p>
        </p:txBody>
      </p:sp>
      <p:sp>
        <p:nvSpPr>
          <p:cNvPr id="13" name="TextBox 12"/>
          <p:cNvSpPr txBox="1"/>
          <p:nvPr/>
        </p:nvSpPr>
        <p:spPr>
          <a:xfrm>
            <a:off x="1005840" y="3886200"/>
            <a:ext cx="6400800" cy="548640"/>
          </a:xfrm>
          <a:prstGeom prst="rect">
            <a:avLst/>
          </a:prstGeom>
          <a:noFill/>
        </p:spPr>
        <p:txBody>
          <a:bodyPr wrap="square">
            <a:spAutoFit/>
          </a:bodyPr>
          <a:lstStyle/>
          <a:p>
            <a:pPr algn="l"/>
            <a:r>
              <a:rPr sz="1100" b="0">
                <a:solidFill>
                  <a:srgbClr val="B0C4DE"/>
                </a:solidFill>
              </a:rPr>
              <a:t>Meaningless without the DEK. Even if someone steals the database, they see only scrambled bytes.</a:t>
            </a:r>
          </a:p>
        </p:txBody>
      </p:sp>
      <p:sp>
        <p:nvSpPr>
          <p:cNvPr id="14" name="TextBox 13"/>
          <p:cNvSpPr txBox="1"/>
          <p:nvPr/>
        </p:nvSpPr>
        <p:spPr>
          <a:xfrm>
            <a:off x="8229600" y="1234440"/>
            <a:ext cx="3657600" cy="2286000"/>
          </a:xfrm>
          <a:prstGeom prst="rect">
            <a:avLst/>
          </a:prstGeom>
          <a:solidFill>
            <a:srgbClr val="1A8C4E"/>
          </a:solidFill>
        </p:spPr>
        <p:txBody>
          <a:bodyPr wrap="square">
            <a:spAutoFit/>
          </a:bodyPr>
          <a:lstStyle/>
          <a:p/>
        </p:txBody>
      </p:sp>
      <p:sp>
        <p:nvSpPr>
          <p:cNvPr id="15" name="TextBox 14"/>
          <p:cNvSpPr txBox="1"/>
          <p:nvPr/>
        </p:nvSpPr>
        <p:spPr>
          <a:xfrm>
            <a:off x="8366760" y="1325880"/>
            <a:ext cx="3383280" cy="411480"/>
          </a:xfrm>
          <a:prstGeom prst="rect">
            <a:avLst/>
          </a:prstGeom>
          <a:noFill/>
        </p:spPr>
        <p:txBody>
          <a:bodyPr wrap="square">
            <a:spAutoFit/>
          </a:bodyPr>
          <a:lstStyle/>
          <a:p>
            <a:pPr algn="l"/>
            <a:r>
              <a:rPr sz="1300" b="1">
                <a:solidFill>
                  <a:srgbClr val="FFFFFF"/>
                </a:solidFill>
              </a:rPr>
              <a:t>FINGERPRINT (HMAC)</a:t>
            </a:r>
          </a:p>
        </p:txBody>
      </p:sp>
      <p:sp>
        <p:nvSpPr>
          <p:cNvPr id="16" name="TextBox 15"/>
          <p:cNvSpPr txBox="1"/>
          <p:nvPr/>
        </p:nvSpPr>
        <p:spPr>
          <a:xfrm>
            <a:off x="8366760" y="1828800"/>
            <a:ext cx="3383280" cy="1600200"/>
          </a:xfrm>
          <a:prstGeom prst="rect">
            <a:avLst/>
          </a:prstGeom>
          <a:noFill/>
        </p:spPr>
        <p:txBody>
          <a:bodyPr wrap="square">
            <a:spAutoFit/>
          </a:bodyPr>
          <a:lstStyle/>
          <a:p>
            <a:pPr algn="l"/>
            <a:r>
              <a:rPr sz="1200" b="0">
                <a:solidFill>
                  <a:srgbClr val="FFFFFF"/>
                </a:solidFill>
              </a:rPr>
              <a:t>A one-way fingerprint of</a:t>
            </a:r>
          </a:p>
          <a:p>
            <a:pPr algn="l"/>
            <a:r>
              <a:rPr sz="1200" b="0">
                <a:solidFill>
                  <a:srgbClr val="FFFFFF"/>
                </a:solidFill>
              </a:rPr>
              <a:t>the card number.</a:t>
            </a:r>
          </a:p>
          <a:p>
            <a:pPr algn="l"/>
            <a:r>
              <a:rPr sz="1200" b="0">
                <a:solidFill>
                  <a:srgbClr val="FFFFFF"/>
                </a:solidFill>
              </a:rPr>
              <a:t/>
            </a:r>
          </a:p>
          <a:p>
            <a:pPr algn="l"/>
            <a:r>
              <a:rPr sz="1200" b="0">
                <a:solidFill>
                  <a:srgbClr val="FFFFFF"/>
                </a:solidFill>
              </a:rPr>
              <a:t>Used to answer:</a:t>
            </a:r>
          </a:p>
          <a:p>
            <a:pPr algn="l"/>
            <a:r>
              <a:rPr sz="1200" b="0">
                <a:solidFill>
                  <a:srgbClr val="FFFFFF"/>
                </a:solidFill>
              </a:rPr>
              <a:t>"Have we seen this card</a:t>
            </a:r>
          </a:p>
          <a:p>
            <a:pPr algn="l"/>
            <a:r>
              <a:rPr sz="1200" b="0">
                <a:solidFill>
                  <a:srgbClr val="FFFFFF"/>
                </a:solidFill>
              </a:rPr>
              <a:t>before?"</a:t>
            </a:r>
          </a:p>
          <a:p>
            <a:pPr algn="l"/>
            <a:r>
              <a:rPr sz="1200" b="0">
                <a:solidFill>
                  <a:srgbClr val="FFFFFF"/>
                </a:solidFill>
              </a:rPr>
              <a:t/>
            </a:r>
          </a:p>
          <a:p>
            <a:pPr algn="l"/>
            <a:r>
              <a:rPr sz="1200" b="0">
                <a:solidFill>
                  <a:srgbClr val="FFFFFF"/>
                </a:solidFill>
              </a:rPr>
              <a:t>Cannot be reversed back</a:t>
            </a:r>
          </a:p>
          <a:p>
            <a:pPr algn="l"/>
            <a:r>
              <a:rPr sz="1200" b="0">
                <a:solidFill>
                  <a:srgbClr val="FFFFFF"/>
                </a:solidFill>
              </a:rPr>
              <a:t>to the card number.</a:t>
            </a:r>
          </a:p>
        </p:txBody>
      </p:sp>
      <p:cxnSp>
        <p:nvCxnSpPr>
          <p:cNvPr id="17" name="Connector 16"/>
          <p:cNvCxnSpPr/>
          <p:nvPr/>
        </p:nvCxnSpPr>
        <p:spPr>
          <a:xfrm>
            <a:off x="7635240" y="2788920"/>
            <a:ext cx="548639" cy="0"/>
          </a:xfrm>
          <a:prstGeom prst="line">
            <a:avLst/>
          </a:prstGeom>
          <a:ln w="25400">
            <a:solidFill>
              <a:srgbClr val="008C8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0" y="3749039"/>
            <a:ext cx="3657600" cy="594360"/>
          </a:xfrm>
          <a:prstGeom prst="rect">
            <a:avLst/>
          </a:prstGeom>
          <a:solidFill>
            <a:srgbClr val="008C8C"/>
          </a:solidFill>
        </p:spPr>
        <p:txBody>
          <a:bodyPr wrap="square">
            <a:spAutoFit/>
          </a:bodyPr>
          <a:lstStyle/>
          <a:p>
            <a:pPr algn="ctr"/>
            <a:r>
              <a:rPr sz="1300" b="1">
                <a:solidFill>
                  <a:srgbClr val="FFFFFF"/>
                </a:solidFill>
              </a:rPr>
              <a:t>Why three layers?</a:t>
            </a:r>
          </a:p>
        </p:txBody>
      </p:sp>
      <p:sp>
        <p:nvSpPr>
          <p:cNvPr id="19" name="TextBox 18"/>
          <p:cNvSpPr txBox="1"/>
          <p:nvPr/>
        </p:nvSpPr>
        <p:spPr>
          <a:xfrm>
            <a:off x="8275320" y="4434840"/>
            <a:ext cx="3566160" cy="2194560"/>
          </a:xfrm>
          <a:prstGeom prst="rect">
            <a:avLst/>
          </a:prstGeom>
          <a:noFill/>
        </p:spPr>
        <p:txBody>
          <a:bodyPr wrap="square">
            <a:spAutoFit/>
          </a:bodyPr>
          <a:lstStyle/>
          <a:p>
            <a:pPr algn="l"/>
            <a:r>
              <a:rPr sz="1200" b="0">
                <a:solidFill>
                  <a:srgbClr val="B0C4DE"/>
                </a:solidFill>
              </a:rPr>
              <a:t>• Steal the database → still encrypted</a:t>
            </a:r>
          </a:p>
          <a:p>
            <a:pPr algn="l"/>
            <a:r>
              <a:rPr sz="1200" b="0">
                <a:solidFill>
                  <a:srgbClr val="B0C4DE"/>
                </a:solidFill>
              </a:rPr>
              <a:t/>
            </a:r>
          </a:p>
          <a:p>
            <a:pPr algn="l"/>
            <a:r>
              <a:rPr sz="1200" b="0">
                <a:solidFill>
                  <a:srgbClr val="B0C4DE"/>
                </a:solidFill>
              </a:rPr>
              <a:t>• Steal the DEK → still need KMS</a:t>
            </a:r>
          </a:p>
          <a:p>
            <a:pPr algn="l"/>
            <a:r>
              <a:rPr sz="1200" b="0">
                <a:solidFill>
                  <a:srgbClr val="B0C4DE"/>
                </a:solidFill>
              </a:rPr>
              <a:t/>
            </a:r>
          </a:p>
          <a:p>
            <a:pPr algn="l"/>
            <a:r>
              <a:rPr sz="1200" b="0">
                <a:solidFill>
                  <a:srgbClr val="B0C4DE"/>
                </a:solidFill>
              </a:rPr>
              <a:t>• Compromise KMS → cannot get
  DEK without authorisation</a:t>
            </a:r>
          </a:p>
          <a:p>
            <a:pPr algn="l"/>
            <a:r>
              <a:rPr sz="1200" b="0">
                <a:solidFill>
                  <a:srgbClr val="B0C4DE"/>
                </a:solidFill>
              </a:rPr>
              <a:t/>
            </a:r>
          </a:p>
          <a:p>
            <a:pPr algn="l"/>
            <a:r>
              <a:rPr sz="1200" b="0">
                <a:solidFill>
                  <a:srgbClr val="B0C4DE"/>
                </a:solidFill>
              </a:rPr>
              <a:t>• All three together → the system
  stays secure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0D1B3E"/>
                </a:solidFill>
              </a:rPr>
              <a:t>The Envelope — How the Master Key &amp; Data Key Work Together</a:t>
            </a:r>
          </a:p>
        </p:txBody>
      </p:sp>
      <p:sp>
        <p:nvSpPr>
          <p:cNvPr id="4" name="TextBox 3"/>
          <p:cNvSpPr txBox="1"/>
          <p:nvPr/>
        </p:nvSpPr>
        <p:spPr>
          <a:xfrm>
            <a:off x="365760" y="777240"/>
            <a:ext cx="11430000" cy="347472"/>
          </a:xfrm>
          <a:prstGeom prst="rect">
            <a:avLst/>
          </a:prstGeom>
          <a:noFill/>
        </p:spPr>
        <p:txBody>
          <a:bodyPr wrap="square">
            <a:spAutoFit/>
          </a:bodyPr>
          <a:lstStyle/>
          <a:p>
            <a:pPr algn="l"/>
            <a:r>
              <a:rPr sz="1400" b="0">
                <a:solidFill>
                  <a:srgbClr val="55657A"/>
                </a:solidFill>
              </a:rPr>
              <a:t>Think of it like a bank's safe deposit box system</a:t>
            </a:r>
          </a:p>
        </p:txBody>
      </p:sp>
      <p:sp>
        <p:nvSpPr>
          <p:cNvPr id="5" name="TextBox 4"/>
          <p:cNvSpPr txBox="1"/>
          <p:nvPr/>
        </p:nvSpPr>
        <p:spPr>
          <a:xfrm>
            <a:off x="365760" y="1234440"/>
            <a:ext cx="5029200" cy="5257800"/>
          </a:xfrm>
          <a:prstGeom prst="rect">
            <a:avLst/>
          </a:prstGeom>
          <a:solidFill>
            <a:srgbClr val="0D1B3E"/>
          </a:solidFill>
        </p:spPr>
        <p:txBody>
          <a:bodyPr wrap="square">
            <a:spAutoFit/>
          </a:bodyPr>
          <a:lstStyle/>
          <a:p/>
        </p:txBody>
      </p:sp>
      <p:sp>
        <p:nvSpPr>
          <p:cNvPr id="6" name="TextBox 5"/>
          <p:cNvSpPr txBox="1"/>
          <p:nvPr/>
        </p:nvSpPr>
        <p:spPr>
          <a:xfrm>
            <a:off x="502920" y="1325880"/>
            <a:ext cx="4572000" cy="365760"/>
          </a:xfrm>
          <a:prstGeom prst="rect">
            <a:avLst/>
          </a:prstGeom>
          <a:noFill/>
        </p:spPr>
        <p:txBody>
          <a:bodyPr wrap="square">
            <a:spAutoFit/>
          </a:bodyPr>
          <a:lstStyle/>
          <a:p>
            <a:pPr algn="l"/>
            <a:r>
              <a:rPr sz="1300" b="1">
                <a:solidFill>
                  <a:srgbClr val="008C8C"/>
                </a:solidFill>
              </a:rPr>
              <a:t>🏦  THE BANK  (AWS KMS)</a:t>
            </a:r>
          </a:p>
        </p:txBody>
      </p:sp>
      <p:sp>
        <p:nvSpPr>
          <p:cNvPr id="7" name="TextBox 6"/>
          <p:cNvSpPr txBox="1"/>
          <p:nvPr/>
        </p:nvSpPr>
        <p:spPr>
          <a:xfrm>
            <a:off x="502920" y="1737360"/>
            <a:ext cx="4572000" cy="502920"/>
          </a:xfrm>
          <a:prstGeom prst="rect">
            <a:avLst/>
          </a:prstGeom>
          <a:noFill/>
        </p:spPr>
        <p:txBody>
          <a:bodyPr wrap="square">
            <a:spAutoFit/>
          </a:bodyPr>
          <a:lstStyle/>
          <a:p>
            <a:pPr algn="l"/>
            <a:r>
              <a:rPr sz="1200" b="0">
                <a:solidFill>
                  <a:srgbClr val="B0C4DE"/>
                </a:solidFill>
              </a:rPr>
              <a:t>The master key (KEK) lives here.
It never leaves the bank.</a:t>
            </a:r>
          </a:p>
        </p:txBody>
      </p:sp>
      <p:sp>
        <p:nvSpPr>
          <p:cNvPr id="8" name="TextBox 7"/>
          <p:cNvSpPr txBox="1"/>
          <p:nvPr/>
        </p:nvSpPr>
        <p:spPr>
          <a:xfrm>
            <a:off x="731520" y="2377440"/>
            <a:ext cx="4297680" cy="685800"/>
          </a:xfrm>
          <a:prstGeom prst="rect">
            <a:avLst/>
          </a:prstGeom>
          <a:solidFill>
            <a:srgbClr val="008C8C"/>
          </a:solidFill>
        </p:spPr>
        <p:txBody>
          <a:bodyPr wrap="square">
            <a:spAutoFit/>
          </a:bodyPr>
          <a:lstStyle/>
          <a:p>
            <a:pPr algn="ctr"/>
            <a:r>
              <a:rPr sz="1200" b="1">
                <a:solidFill>
                  <a:srgbClr val="FFFFFF"/>
                </a:solidFill>
              </a:rPr>
              <a:t>🔑  Master Key (KEK)  —  managed by AWS, never handed over</a:t>
            </a:r>
          </a:p>
        </p:txBody>
      </p:sp>
      <p:cxnSp>
        <p:nvCxnSpPr>
          <p:cNvPr id="9" name="Connector 8"/>
          <p:cNvCxnSpPr/>
          <p:nvPr/>
        </p:nvCxnSpPr>
        <p:spPr>
          <a:xfrm>
            <a:off x="2880360" y="3108960"/>
            <a:ext cx="0" cy="457200"/>
          </a:xfrm>
          <a:prstGeom prst="line">
            <a:avLst/>
          </a:prstGeom>
          <a:ln w="31750">
            <a:solidFill>
              <a:srgbClr val="008C8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71800" y="3200400"/>
            <a:ext cx="1371600" cy="320040"/>
          </a:xfrm>
          <a:prstGeom prst="rect">
            <a:avLst/>
          </a:prstGeom>
          <a:noFill/>
        </p:spPr>
        <p:txBody>
          <a:bodyPr wrap="square">
            <a:spAutoFit/>
          </a:bodyPr>
          <a:lstStyle/>
          <a:p>
            <a:pPr algn="l"/>
            <a:r>
              <a:rPr sz="1100" b="0">
                <a:solidFill>
                  <a:srgbClr val="008C8C"/>
                </a:solidFill>
              </a:rPr>
              <a:t>unlocks</a:t>
            </a:r>
          </a:p>
        </p:txBody>
      </p:sp>
      <p:sp>
        <p:nvSpPr>
          <p:cNvPr id="11" name="TextBox 10"/>
          <p:cNvSpPr txBox="1"/>
          <p:nvPr/>
        </p:nvSpPr>
        <p:spPr>
          <a:xfrm>
            <a:off x="731520" y="3657600"/>
            <a:ext cx="4297680" cy="640080"/>
          </a:xfrm>
          <a:prstGeom prst="rect">
            <a:avLst/>
          </a:prstGeom>
          <a:solidFill>
            <a:srgbClr val="5A3A8C"/>
          </a:solidFill>
        </p:spPr>
        <p:txBody>
          <a:bodyPr wrap="square">
            <a:spAutoFit/>
          </a:bodyPr>
          <a:lstStyle/>
          <a:p>
            <a:pPr algn="ctr"/>
            <a:r>
              <a:rPr sz="1200" b="1">
                <a:solidFill>
                  <a:srgbClr val="FFFFFF"/>
                </a:solidFill>
              </a:rPr>
              <a:t>🔐  Your padlock key (DEK) — unique per card, locked by the master key</a:t>
            </a:r>
          </a:p>
        </p:txBody>
      </p:sp>
      <p:cxnSp>
        <p:nvCxnSpPr>
          <p:cNvPr id="12" name="Connector 11"/>
          <p:cNvCxnSpPr/>
          <p:nvPr/>
        </p:nvCxnSpPr>
        <p:spPr>
          <a:xfrm>
            <a:off x="2880360" y="4343400"/>
            <a:ext cx="0" cy="411480"/>
          </a:xfrm>
          <a:prstGeom prst="line">
            <a:avLst/>
          </a:prstGeom>
          <a:ln w="31750">
            <a:solidFill>
              <a:srgbClr val="5A3A8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800" y="4434840"/>
            <a:ext cx="1371600" cy="320040"/>
          </a:xfrm>
          <a:prstGeom prst="rect">
            <a:avLst/>
          </a:prstGeom>
          <a:noFill/>
        </p:spPr>
        <p:txBody>
          <a:bodyPr wrap="square">
            <a:spAutoFit/>
          </a:bodyPr>
          <a:lstStyle/>
          <a:p>
            <a:pPr algn="l"/>
            <a:r>
              <a:rPr sz="1100" b="0">
                <a:solidFill>
                  <a:srgbClr val="5A3A8C"/>
                </a:solidFill>
              </a:rPr>
              <a:t>unlocks</a:t>
            </a:r>
          </a:p>
        </p:txBody>
      </p:sp>
      <p:sp>
        <p:nvSpPr>
          <p:cNvPr id="14" name="TextBox 13"/>
          <p:cNvSpPr txBox="1"/>
          <p:nvPr/>
        </p:nvSpPr>
        <p:spPr>
          <a:xfrm>
            <a:off x="731520" y="4846320"/>
            <a:ext cx="4297680" cy="640080"/>
          </a:xfrm>
          <a:prstGeom prst="rect">
            <a:avLst/>
          </a:prstGeom>
          <a:solidFill>
            <a:srgbClr val="8C1A1A"/>
          </a:solidFill>
        </p:spPr>
        <p:txBody>
          <a:bodyPr wrap="square">
            <a:spAutoFit/>
          </a:bodyPr>
          <a:lstStyle/>
          <a:p>
            <a:pPr algn="ctr"/>
            <a:r>
              <a:rPr sz="1200" b="1">
                <a:solidFill>
                  <a:srgbClr val="FFFFFF"/>
                </a:solidFill>
              </a:rPr>
              <a:t>✉  The sealed envelope (encrypted PAN) — your card number inside</a:t>
            </a:r>
          </a:p>
        </p:txBody>
      </p:sp>
      <p:sp>
        <p:nvSpPr>
          <p:cNvPr id="15" name="TextBox 14"/>
          <p:cNvSpPr txBox="1"/>
          <p:nvPr/>
        </p:nvSpPr>
        <p:spPr>
          <a:xfrm>
            <a:off x="502920" y="5577840"/>
            <a:ext cx="4572000" cy="548640"/>
          </a:xfrm>
          <a:prstGeom prst="rect">
            <a:avLst/>
          </a:prstGeom>
          <a:noFill/>
        </p:spPr>
        <p:txBody>
          <a:bodyPr wrap="square">
            <a:spAutoFit/>
          </a:bodyPr>
          <a:lstStyle/>
          <a:p>
            <a:pPr algn="l"/>
            <a:r>
              <a:rPr sz="1100" b="0">
                <a:solidFill>
                  <a:srgbClr val="55657A"/>
                </a:solidFill>
              </a:rPr>
              <a:t>Each card gets its own padlock. All padlock keys are locked by the one master key at the bank.</a:t>
            </a:r>
          </a:p>
        </p:txBody>
      </p:sp>
      <p:sp>
        <p:nvSpPr>
          <p:cNvPr id="16" name="TextBox 15"/>
          <p:cNvSpPr txBox="1"/>
          <p:nvPr/>
        </p:nvSpPr>
        <p:spPr>
          <a:xfrm>
            <a:off x="5669280" y="1234440"/>
            <a:ext cx="6126480" cy="411480"/>
          </a:xfrm>
          <a:prstGeom prst="rect">
            <a:avLst/>
          </a:prstGeom>
          <a:noFill/>
        </p:spPr>
        <p:txBody>
          <a:bodyPr wrap="square">
            <a:spAutoFit/>
          </a:bodyPr>
          <a:lstStyle/>
          <a:p>
            <a:pPr algn="l"/>
            <a:r>
              <a:rPr sz="1500" b="1">
                <a:solidFill>
                  <a:srgbClr val="0D1B3E"/>
                </a:solidFill>
              </a:rPr>
              <a:t>What this means in practice:</a:t>
            </a:r>
          </a:p>
        </p:txBody>
      </p:sp>
      <p:sp>
        <p:nvSpPr>
          <p:cNvPr id="17" name="TextBox 16"/>
          <p:cNvSpPr txBox="1"/>
          <p:nvPr/>
        </p:nvSpPr>
        <p:spPr>
          <a:xfrm>
            <a:off x="5669280" y="1737360"/>
            <a:ext cx="2194560" cy="1005840"/>
          </a:xfrm>
          <a:prstGeom prst="rect">
            <a:avLst/>
          </a:prstGeom>
          <a:solidFill>
            <a:srgbClr val="008C8C"/>
          </a:solidFill>
        </p:spPr>
        <p:txBody>
          <a:bodyPr wrap="square">
            <a:spAutoFit/>
          </a:bodyPr>
          <a:lstStyle/>
          <a:p>
            <a:pPr algn="ctr"/>
            <a:r>
              <a:rPr sz="1300" b="1">
                <a:solidFill>
                  <a:srgbClr val="FFFFFF"/>
                </a:solidFill>
              </a:rPr>
              <a:t>Storing a card</a:t>
            </a:r>
          </a:p>
        </p:txBody>
      </p:sp>
      <p:sp>
        <p:nvSpPr>
          <p:cNvPr id="18" name="TextBox 17"/>
          <p:cNvSpPr txBox="1"/>
          <p:nvPr/>
        </p:nvSpPr>
        <p:spPr>
          <a:xfrm>
            <a:off x="8001000" y="1737360"/>
            <a:ext cx="3931920" cy="1005840"/>
          </a:xfrm>
          <a:prstGeom prst="rect">
            <a:avLst/>
          </a:prstGeom>
          <a:noFill/>
        </p:spPr>
        <p:txBody>
          <a:bodyPr wrap="square">
            <a:spAutoFit/>
          </a:bodyPr>
          <a:lstStyle/>
          <a:p>
            <a:pPr algn="l"/>
            <a:r>
              <a:rPr sz="1200" b="0">
                <a:solidFill>
                  <a:srgbClr val="55657A"/>
                </a:solidFill>
              </a:rPr>
              <a:t>We generate a fresh padlock (DEK) for each card, seal
the card number inside, then ask the bank to lock the
padlock. Only the locked padlock is stored — never the key.</a:t>
            </a:r>
          </a:p>
        </p:txBody>
      </p:sp>
      <p:sp>
        <p:nvSpPr>
          <p:cNvPr id="19" name="TextBox 18"/>
          <p:cNvSpPr txBox="1"/>
          <p:nvPr/>
        </p:nvSpPr>
        <p:spPr>
          <a:xfrm>
            <a:off x="5669280" y="2971800"/>
            <a:ext cx="2194560" cy="1005840"/>
          </a:xfrm>
          <a:prstGeom prst="rect">
            <a:avLst/>
          </a:prstGeom>
          <a:solidFill>
            <a:srgbClr val="5A3A8C"/>
          </a:solidFill>
        </p:spPr>
        <p:txBody>
          <a:bodyPr wrap="square">
            <a:spAutoFit/>
          </a:bodyPr>
          <a:lstStyle/>
          <a:p>
            <a:pPr algn="ctr"/>
            <a:r>
              <a:rPr sz="1300" b="1">
                <a:solidFill>
                  <a:srgbClr val="FFFFFF"/>
                </a:solidFill>
              </a:rPr>
              <a:t>Retrieving a card</a:t>
            </a:r>
          </a:p>
        </p:txBody>
      </p:sp>
      <p:sp>
        <p:nvSpPr>
          <p:cNvPr id="20" name="TextBox 19"/>
          <p:cNvSpPr txBox="1"/>
          <p:nvPr/>
        </p:nvSpPr>
        <p:spPr>
          <a:xfrm>
            <a:off x="8001000" y="2971800"/>
            <a:ext cx="3931920" cy="1005840"/>
          </a:xfrm>
          <a:prstGeom prst="rect">
            <a:avLst/>
          </a:prstGeom>
          <a:noFill/>
        </p:spPr>
        <p:txBody>
          <a:bodyPr wrap="square">
            <a:spAutoFit/>
          </a:bodyPr>
          <a:lstStyle/>
          <a:p>
            <a:pPr algn="l"/>
            <a:r>
              <a:rPr sz="1200" b="0">
                <a:solidFill>
                  <a:srgbClr val="55657A"/>
                </a:solidFill>
              </a:rPr>
              <a:t>We take the locked padlock to the bank. The bank
unlocks it with the master key, hands us the key
briefly, we open the envelope, read the card, hand
the key back immediately.</a:t>
            </a:r>
          </a:p>
        </p:txBody>
      </p:sp>
      <p:sp>
        <p:nvSpPr>
          <p:cNvPr id="21" name="TextBox 20"/>
          <p:cNvSpPr txBox="1"/>
          <p:nvPr/>
        </p:nvSpPr>
        <p:spPr>
          <a:xfrm>
            <a:off x="5669280" y="4206240"/>
            <a:ext cx="2194560" cy="1005840"/>
          </a:xfrm>
          <a:prstGeom prst="rect">
            <a:avLst/>
          </a:prstGeom>
          <a:solidFill>
            <a:srgbClr val="1A8C4E"/>
          </a:solidFill>
        </p:spPr>
        <p:txBody>
          <a:bodyPr wrap="square">
            <a:spAutoFit/>
          </a:bodyPr>
          <a:lstStyle/>
          <a:p>
            <a:pPr algn="ctr"/>
            <a:r>
              <a:rPr sz="1300" b="1">
                <a:solidFill>
                  <a:srgbClr val="FFFFFF"/>
                </a:solidFill>
              </a:rPr>
              <a:t>If our database is stolen</a:t>
            </a:r>
          </a:p>
        </p:txBody>
      </p:sp>
      <p:sp>
        <p:nvSpPr>
          <p:cNvPr id="22" name="TextBox 21"/>
          <p:cNvSpPr txBox="1"/>
          <p:nvPr/>
        </p:nvSpPr>
        <p:spPr>
          <a:xfrm>
            <a:off x="8001000" y="4206240"/>
            <a:ext cx="3931920" cy="1005840"/>
          </a:xfrm>
          <a:prstGeom prst="rect">
            <a:avLst/>
          </a:prstGeom>
          <a:noFill/>
        </p:spPr>
        <p:txBody>
          <a:bodyPr wrap="square">
            <a:spAutoFit/>
          </a:bodyPr>
          <a:lstStyle/>
          <a:p>
            <a:pPr algn="l"/>
            <a:r>
              <a:rPr sz="1200" b="0">
                <a:solidFill>
                  <a:srgbClr val="55657A"/>
                </a:solidFill>
              </a:rPr>
              <a:t>The attacker gets sealed envelopes and locked
padlocks — useless without the master key,
which only the bank (AWS KMS) holds.</a:t>
            </a:r>
          </a:p>
        </p:txBody>
      </p:sp>
      <p:sp>
        <p:nvSpPr>
          <p:cNvPr id="23" name="TextBox 22"/>
          <p:cNvSpPr txBox="1"/>
          <p:nvPr/>
        </p:nvSpPr>
        <p:spPr>
          <a:xfrm>
            <a:off x="5669280" y="5440680"/>
            <a:ext cx="2194560" cy="1005840"/>
          </a:xfrm>
          <a:prstGeom prst="rect">
            <a:avLst/>
          </a:prstGeom>
          <a:solidFill>
            <a:srgbClr val="1A5C8C"/>
          </a:solidFill>
        </p:spPr>
        <p:txBody>
          <a:bodyPr wrap="square">
            <a:spAutoFit/>
          </a:bodyPr>
          <a:lstStyle/>
          <a:p>
            <a:pPr algn="ctr"/>
            <a:r>
              <a:rPr sz="1300" b="1">
                <a:solidFill>
                  <a:srgbClr val="FFFFFF"/>
                </a:solidFill>
              </a:rPr>
              <a:t>Changing the master key</a:t>
            </a:r>
          </a:p>
        </p:txBody>
      </p:sp>
      <p:sp>
        <p:nvSpPr>
          <p:cNvPr id="24" name="TextBox 23"/>
          <p:cNvSpPr txBox="1"/>
          <p:nvPr/>
        </p:nvSpPr>
        <p:spPr>
          <a:xfrm>
            <a:off x="8001000" y="5440680"/>
            <a:ext cx="3931920" cy="1005840"/>
          </a:xfrm>
          <a:prstGeom prst="rect">
            <a:avLst/>
          </a:prstGeom>
          <a:noFill/>
        </p:spPr>
        <p:txBody>
          <a:bodyPr wrap="square">
            <a:spAutoFit/>
          </a:bodyPr>
          <a:lstStyle/>
          <a:p>
            <a:pPr algn="l"/>
            <a:r>
              <a:rPr sz="1200" b="0">
                <a:solidFill>
                  <a:srgbClr val="55657A"/>
                </a:solidFill>
              </a:rPr>
              <a:t>We collect all padlocks, ask the bank to re-lock
them with a new master key. The envelopes are
never opened — cards never exposed during rotation.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FFFFFF"/>
                </a:solidFill>
              </a:rPr>
              <a:t>The Fingerprint — How We Recognise a Card Without Storing It</a:t>
            </a:r>
          </a:p>
        </p:txBody>
      </p:sp>
      <p:sp>
        <p:nvSpPr>
          <p:cNvPr id="4" name="TextBox 3"/>
          <p:cNvSpPr txBox="1"/>
          <p:nvPr/>
        </p:nvSpPr>
        <p:spPr>
          <a:xfrm>
            <a:off x="365760" y="777240"/>
            <a:ext cx="11430000" cy="347472"/>
          </a:xfrm>
          <a:prstGeom prst="rect">
            <a:avLst/>
          </a:prstGeom>
          <a:noFill/>
        </p:spPr>
        <p:txBody>
          <a:bodyPr wrap="square">
            <a:spAutoFit/>
          </a:bodyPr>
          <a:lstStyle/>
          <a:p>
            <a:pPr algn="l"/>
            <a:r>
              <a:rPr sz="1400" b="0">
                <a:solidFill>
                  <a:srgbClr val="B0C4DE"/>
                </a:solidFill>
              </a:rPr>
              <a:t>HMAC: a one-way, deterministic fingerprint of the card number</a:t>
            </a:r>
          </a:p>
        </p:txBody>
      </p:sp>
      <p:sp>
        <p:nvSpPr>
          <p:cNvPr id="5" name="TextBox 4"/>
          <p:cNvSpPr txBox="1"/>
          <p:nvPr/>
        </p:nvSpPr>
        <p:spPr>
          <a:xfrm>
            <a:off x="365760" y="1234440"/>
            <a:ext cx="3291840" cy="594360"/>
          </a:xfrm>
          <a:prstGeom prst="rect">
            <a:avLst/>
          </a:prstGeom>
          <a:solidFill>
            <a:srgbClr val="8C1A1A"/>
          </a:solidFill>
        </p:spPr>
        <p:txBody>
          <a:bodyPr wrap="square">
            <a:spAutoFit/>
          </a:bodyPr>
          <a:lstStyle/>
          <a:p>
            <a:pPr algn="ctr"/>
            <a:r>
              <a:rPr sz="1300" b="1">
                <a:solidFill>
                  <a:srgbClr val="FFFFFF"/>
                </a:solidFill>
              </a:rPr>
              <a:t>5412 7534 9823 1049  (First visit)</a:t>
            </a:r>
          </a:p>
        </p:txBody>
      </p:sp>
      <p:cxnSp>
        <p:nvCxnSpPr>
          <p:cNvPr id="6" name="Connector 5"/>
          <p:cNvCxnSpPr/>
          <p:nvPr/>
        </p:nvCxnSpPr>
        <p:spPr>
          <a:xfrm>
            <a:off x="3703320" y="1536192"/>
            <a:ext cx="914400" cy="0"/>
          </a:xfrm>
          <a:prstGeom prst="line">
            <a:avLst/>
          </a:prstGeom>
          <a:ln w="31750">
            <a:solidFill>
              <a:srgbClr val="008C8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709160" y="1234440"/>
            <a:ext cx="3291840" cy="594360"/>
          </a:xfrm>
          <a:prstGeom prst="rect">
            <a:avLst/>
          </a:prstGeom>
          <a:solidFill>
            <a:srgbClr val="1A8C4E"/>
          </a:solidFill>
        </p:spPr>
        <p:txBody>
          <a:bodyPr wrap="square">
            <a:spAutoFit/>
          </a:bodyPr>
          <a:lstStyle/>
          <a:p>
            <a:pPr algn="ctr"/>
            <a:r>
              <a:rPr sz="1300" b="1">
                <a:solidFill>
                  <a:srgbClr val="FFFFFF"/>
                </a:solidFill>
              </a:rPr>
              <a:t>Fingerprint: a7f3c8d2…</a:t>
            </a:r>
          </a:p>
        </p:txBody>
      </p:sp>
      <p:sp>
        <p:nvSpPr>
          <p:cNvPr id="8" name="TextBox 7"/>
          <p:cNvSpPr txBox="1"/>
          <p:nvPr/>
        </p:nvSpPr>
        <p:spPr>
          <a:xfrm>
            <a:off x="365760" y="2103120"/>
            <a:ext cx="3291840" cy="594360"/>
          </a:xfrm>
          <a:prstGeom prst="rect">
            <a:avLst/>
          </a:prstGeom>
          <a:solidFill>
            <a:srgbClr val="8C1A1A"/>
          </a:solidFill>
        </p:spPr>
        <p:txBody>
          <a:bodyPr wrap="square">
            <a:spAutoFit/>
          </a:bodyPr>
          <a:lstStyle/>
          <a:p>
            <a:pPr algn="ctr"/>
            <a:r>
              <a:rPr sz="1300" b="1">
                <a:solidFill>
                  <a:srgbClr val="FFFFFF"/>
                </a:solidFill>
              </a:rPr>
              <a:t>5412 7534 9823 1049  (Second visit)</a:t>
            </a:r>
          </a:p>
        </p:txBody>
      </p:sp>
      <p:cxnSp>
        <p:nvCxnSpPr>
          <p:cNvPr id="9" name="Connector 8"/>
          <p:cNvCxnSpPr/>
          <p:nvPr/>
        </p:nvCxnSpPr>
        <p:spPr>
          <a:xfrm>
            <a:off x="3703320" y="2404872"/>
            <a:ext cx="914400" cy="0"/>
          </a:xfrm>
          <a:prstGeom prst="line">
            <a:avLst/>
          </a:prstGeom>
          <a:ln w="31750">
            <a:solidFill>
              <a:srgbClr val="008C8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709160" y="2103120"/>
            <a:ext cx="3291840" cy="594360"/>
          </a:xfrm>
          <a:prstGeom prst="rect">
            <a:avLst/>
          </a:prstGeom>
          <a:solidFill>
            <a:srgbClr val="1A8C4E"/>
          </a:solidFill>
        </p:spPr>
        <p:txBody>
          <a:bodyPr wrap="square">
            <a:spAutoFit/>
          </a:bodyPr>
          <a:lstStyle/>
          <a:p>
            <a:pPr algn="ctr"/>
            <a:r>
              <a:rPr sz="1300" b="1">
                <a:solidFill>
                  <a:srgbClr val="FFFFFF"/>
                </a:solidFill>
              </a:rPr>
              <a:t>Fingerprint: a7f3c8d2…</a:t>
            </a:r>
          </a:p>
        </p:txBody>
      </p:sp>
      <p:sp>
        <p:nvSpPr>
          <p:cNvPr id="11" name="TextBox 10"/>
          <p:cNvSpPr txBox="1"/>
          <p:nvPr/>
        </p:nvSpPr>
        <p:spPr>
          <a:xfrm>
            <a:off x="4709160" y="2788920"/>
            <a:ext cx="3291840" cy="365760"/>
          </a:xfrm>
          <a:prstGeom prst="rect">
            <a:avLst/>
          </a:prstGeom>
          <a:noFill/>
        </p:spPr>
        <p:txBody>
          <a:bodyPr wrap="square">
            <a:spAutoFit/>
          </a:bodyPr>
          <a:lstStyle/>
          <a:p>
            <a:pPr algn="l"/>
            <a:r>
              <a:rPr sz="1200" b="0">
                <a:solidFill>
                  <a:srgbClr val="1A8C4E"/>
                </a:solidFill>
              </a:rPr>
              <a:t>✓  Same fingerprint — same card — return the existing token</a:t>
            </a:r>
          </a:p>
        </p:txBody>
      </p:sp>
      <p:sp>
        <p:nvSpPr>
          <p:cNvPr id="12" name="TextBox 11"/>
          <p:cNvSpPr txBox="1"/>
          <p:nvPr/>
        </p:nvSpPr>
        <p:spPr>
          <a:xfrm>
            <a:off x="365760" y="3291840"/>
            <a:ext cx="7680960" cy="36576"/>
          </a:xfrm>
          <a:prstGeom prst="rect">
            <a:avLst/>
          </a:prstGeom>
          <a:solidFill>
            <a:srgbClr val="55657A"/>
          </a:solidFill>
        </p:spPr>
        <p:txBody>
          <a:bodyPr wrap="square">
            <a:spAutoFit/>
          </a:bodyPr>
          <a:lstStyle/>
          <a:p/>
        </p:txBody>
      </p:sp>
      <p:sp>
        <p:nvSpPr>
          <p:cNvPr id="13" name="TextBox 12"/>
          <p:cNvSpPr txBox="1"/>
          <p:nvPr/>
        </p:nvSpPr>
        <p:spPr>
          <a:xfrm>
            <a:off x="365760" y="3429000"/>
            <a:ext cx="3291840" cy="594360"/>
          </a:xfrm>
          <a:prstGeom prst="rect">
            <a:avLst/>
          </a:prstGeom>
          <a:solidFill>
            <a:srgbClr val="5A3A8C"/>
          </a:solidFill>
        </p:spPr>
        <p:txBody>
          <a:bodyPr wrap="square">
            <a:spAutoFit/>
          </a:bodyPr>
          <a:lstStyle/>
          <a:p>
            <a:pPr algn="ctr"/>
            <a:r>
              <a:rPr sz="1300" b="1">
                <a:solidFill>
                  <a:srgbClr val="FFFFFF"/>
                </a:solidFill>
              </a:rPr>
              <a:t>4111 1111 1111 1111  (Different card)</a:t>
            </a:r>
          </a:p>
        </p:txBody>
      </p:sp>
      <p:cxnSp>
        <p:nvCxnSpPr>
          <p:cNvPr id="14" name="Connector 13"/>
          <p:cNvCxnSpPr/>
          <p:nvPr/>
        </p:nvCxnSpPr>
        <p:spPr>
          <a:xfrm>
            <a:off x="3703320" y="3730752"/>
            <a:ext cx="914400" cy="0"/>
          </a:xfrm>
          <a:prstGeom prst="line">
            <a:avLst/>
          </a:prstGeom>
          <a:ln w="31750">
            <a:solidFill>
              <a:srgbClr val="00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709160" y="3429000"/>
            <a:ext cx="3291840" cy="594360"/>
          </a:xfrm>
          <a:prstGeom prst="rect">
            <a:avLst/>
          </a:prstGeom>
          <a:solidFill>
            <a:srgbClr val="5A3A8C"/>
          </a:solidFill>
        </p:spPr>
        <p:txBody>
          <a:bodyPr wrap="square">
            <a:spAutoFit/>
          </a:bodyPr>
          <a:lstStyle/>
          <a:p>
            <a:pPr algn="ctr"/>
            <a:r>
              <a:rPr sz="1300" b="1">
                <a:solidFill>
                  <a:srgbClr val="FFFFFF"/>
                </a:solidFill>
              </a:rPr>
              <a:t>Fingerprint: 2b9e1f4a…</a:t>
            </a:r>
          </a:p>
        </p:txBody>
      </p:sp>
      <p:sp>
        <p:nvSpPr>
          <p:cNvPr id="16" name="TextBox 15"/>
          <p:cNvSpPr txBox="1"/>
          <p:nvPr/>
        </p:nvSpPr>
        <p:spPr>
          <a:xfrm>
            <a:off x="4709160" y="4114800"/>
            <a:ext cx="3291840" cy="365760"/>
          </a:xfrm>
          <a:prstGeom prst="rect">
            <a:avLst/>
          </a:prstGeom>
          <a:noFill/>
        </p:spPr>
        <p:txBody>
          <a:bodyPr wrap="square">
            <a:spAutoFit/>
          </a:bodyPr>
          <a:lstStyle/>
          <a:p>
            <a:pPr algn="l"/>
            <a:r>
              <a:rPr sz="1200" b="0">
                <a:solidFill>
                  <a:srgbClr val="B0C4DE"/>
                </a:solidFill>
              </a:rPr>
              <a:t>✓  Different fingerprint — new card — create a new token</a:t>
            </a:r>
          </a:p>
        </p:txBody>
      </p:sp>
      <p:sp>
        <p:nvSpPr>
          <p:cNvPr id="17" name="TextBox 16"/>
          <p:cNvSpPr txBox="1"/>
          <p:nvPr/>
        </p:nvSpPr>
        <p:spPr>
          <a:xfrm>
            <a:off x="365760" y="4709160"/>
            <a:ext cx="7680960" cy="548640"/>
          </a:xfrm>
          <a:prstGeom prst="rect">
            <a:avLst/>
          </a:prstGeom>
          <a:solidFill>
            <a:srgbClr val="C87F00"/>
          </a:solidFill>
        </p:spPr>
        <p:txBody>
          <a:bodyPr wrap="square">
            <a:spAutoFit/>
          </a:bodyPr>
          <a:lstStyle/>
          <a:p>
            <a:pPr algn="ctr"/>
            <a:r>
              <a:rPr sz="1400" b="1">
                <a:solidFill>
                  <a:srgbClr val="0D1B3E"/>
                </a:solidFill>
              </a:rPr>
              <a:t>a7f3c8d2…  →  ❌  Cannot reverse back to  →  ??? ??? ????</a:t>
            </a:r>
          </a:p>
        </p:txBody>
      </p:sp>
      <p:sp>
        <p:nvSpPr>
          <p:cNvPr id="18" name="TextBox 17"/>
          <p:cNvSpPr txBox="1"/>
          <p:nvPr/>
        </p:nvSpPr>
        <p:spPr>
          <a:xfrm>
            <a:off x="365760" y="5349240"/>
            <a:ext cx="7680960" cy="457200"/>
          </a:xfrm>
          <a:prstGeom prst="rect">
            <a:avLst/>
          </a:prstGeom>
          <a:noFill/>
        </p:spPr>
        <p:txBody>
          <a:bodyPr wrap="square">
            <a:spAutoFit/>
          </a:bodyPr>
          <a:lstStyle/>
          <a:p>
            <a:pPr algn="l"/>
            <a:r>
              <a:rPr sz="1200" b="0">
                <a:solidFill>
                  <a:srgbClr val="B0C4DE"/>
                </a:solidFill>
              </a:rPr>
              <a:t>A fingerprint is one-way. Knowing the fingerprint tells you nothing about the card number itself.</a:t>
            </a:r>
          </a:p>
        </p:txBody>
      </p:sp>
      <p:sp>
        <p:nvSpPr>
          <p:cNvPr id="19" name="TextBox 18"/>
          <p:cNvSpPr txBox="1"/>
          <p:nvPr/>
        </p:nvSpPr>
        <p:spPr>
          <a:xfrm>
            <a:off x="8229600" y="1234440"/>
            <a:ext cx="3657600" cy="548640"/>
          </a:xfrm>
          <a:prstGeom prst="rect">
            <a:avLst/>
          </a:prstGeom>
          <a:solidFill>
            <a:srgbClr val="008C8C"/>
          </a:solidFill>
        </p:spPr>
        <p:txBody>
          <a:bodyPr wrap="square">
            <a:spAutoFit/>
          </a:bodyPr>
          <a:lstStyle/>
          <a:p>
            <a:pPr algn="ctr"/>
            <a:r>
              <a:rPr sz="1400" b="1">
                <a:solidFill>
                  <a:srgbClr val="FFFFFF"/>
                </a:solidFill>
              </a:rPr>
              <a:t>Why does this matter?</a:t>
            </a:r>
          </a:p>
        </p:txBody>
      </p:sp>
      <p:sp>
        <p:nvSpPr>
          <p:cNvPr id="20" name="TextBox 19"/>
          <p:cNvSpPr txBox="1"/>
          <p:nvPr/>
        </p:nvSpPr>
        <p:spPr>
          <a:xfrm>
            <a:off x="8275320" y="1874519"/>
            <a:ext cx="3566160" cy="5029200"/>
          </a:xfrm>
          <a:prstGeom prst="rect">
            <a:avLst/>
          </a:prstGeom>
          <a:noFill/>
        </p:spPr>
        <p:txBody>
          <a:bodyPr wrap="square">
            <a:spAutoFit/>
          </a:bodyPr>
          <a:lstStyle/>
          <a:p>
            <a:pPr algn="l"/>
            <a:r>
              <a:rPr sz="1200" b="1">
                <a:solidFill>
                  <a:srgbClr val="B0C4DE"/>
                </a:solidFill>
              </a:rPr>
              <a:t>Same card, different time:</a:t>
            </a:r>
          </a:p>
          <a:p>
            <a:pPr algn="l"/>
            <a:r>
              <a:rPr sz="1200" b="0">
                <a:solidFill>
                  <a:srgbClr val="B0C4DE"/>
                </a:solidFill>
              </a:rPr>
              <a:t>Returns the exact same token</a:t>
            </a:r>
          </a:p>
          <a:p>
            <a:pPr algn="l"/>
            <a:r>
              <a:rPr sz="1200" b="0">
                <a:solidFill>
                  <a:srgbClr val="B0C4DE"/>
                </a:solidFill>
              </a:rPr>
              <a:t>(deduplication — no duplicates</a:t>
            </a:r>
          </a:p>
          <a:p>
            <a:pPr algn="l"/>
            <a:r>
              <a:rPr sz="1200" b="0">
                <a:solidFill>
                  <a:srgbClr val="B0C4DE"/>
                </a:solidFill>
              </a:rPr>
              <a:t>in the vault).</a:t>
            </a:r>
          </a:p>
          <a:p>
            <a:pPr algn="l"/>
            <a:r>
              <a:rPr sz="1200" b="0">
                <a:solidFill>
                  <a:srgbClr val="B0C4DE"/>
                </a:solidFill>
              </a:rPr>
              <a:t/>
            </a:r>
          </a:p>
          <a:p>
            <a:pPr algn="l"/>
            <a:r>
              <a:rPr sz="1200" b="1">
                <a:solidFill>
                  <a:srgbClr val="B0C4DE"/>
                </a:solidFill>
              </a:rPr>
              <a:t>Recurring payments work:</a:t>
            </a:r>
          </a:p>
          <a:p>
            <a:pPr algn="l"/>
            <a:r>
              <a:rPr sz="1200" b="0">
                <a:solidFill>
                  <a:srgbClr val="B0C4DE"/>
                </a:solidFill>
              </a:rPr>
              <a:t>A subscription uses the same</a:t>
            </a:r>
          </a:p>
          <a:p>
            <a:pPr algn="l"/>
            <a:r>
              <a:rPr sz="1200" b="0">
                <a:solidFill>
                  <a:srgbClr val="B0C4DE"/>
                </a:solidFill>
              </a:rPr>
              <a:t>token each month because the</a:t>
            </a:r>
          </a:p>
          <a:p>
            <a:pPr algn="l"/>
            <a:r>
              <a:rPr sz="1200" b="0">
                <a:solidFill>
                  <a:srgbClr val="B0C4DE"/>
                </a:solidFill>
              </a:rPr>
              <a:t>card fingerprint matches.</a:t>
            </a:r>
          </a:p>
          <a:p>
            <a:pPr algn="l"/>
            <a:r>
              <a:rPr sz="1200" b="0">
                <a:solidFill>
                  <a:srgbClr val="B0C4DE"/>
                </a:solidFill>
              </a:rPr>
              <a:t/>
            </a:r>
          </a:p>
          <a:p>
            <a:pPr algn="l"/>
            <a:r>
              <a:rPr sz="1200" b="1">
                <a:solidFill>
                  <a:srgbClr val="B0C4DE"/>
                </a:solidFill>
              </a:rPr>
              <a:t>No card stored:</a:t>
            </a:r>
          </a:p>
          <a:p>
            <a:pPr algn="l"/>
            <a:r>
              <a:rPr sz="1200" b="0">
                <a:solidFill>
                  <a:srgbClr val="B0C4DE"/>
                </a:solidFill>
              </a:rPr>
              <a:t>We never store or compare</a:t>
            </a:r>
          </a:p>
          <a:p>
            <a:pPr algn="l"/>
            <a:r>
              <a:rPr sz="1200" b="0">
                <a:solidFill>
                  <a:srgbClr val="B0C4DE"/>
                </a:solidFill>
              </a:rPr>
              <a:t>the real card number —</a:t>
            </a:r>
          </a:p>
          <a:p>
            <a:pPr algn="l"/>
            <a:r>
              <a:rPr sz="1200" b="0">
                <a:solidFill>
                  <a:srgbClr val="B0C4DE"/>
                </a:solidFill>
              </a:rPr>
              <a:t>only its fingerprint.</a:t>
            </a:r>
          </a:p>
          <a:p>
            <a:pPr algn="l"/>
            <a:r>
              <a:rPr sz="1200" b="0">
                <a:solidFill>
                  <a:srgbClr val="B0C4DE"/>
                </a:solidFill>
              </a:rPr>
              <a:t/>
            </a:r>
          </a:p>
          <a:p>
            <a:pPr algn="l"/>
            <a:r>
              <a:rPr sz="1200" b="1">
                <a:solidFill>
                  <a:srgbClr val="B0C4DE"/>
                </a:solidFill>
              </a:rPr>
              <a:t>HMAC needs a secret key:</a:t>
            </a:r>
          </a:p>
          <a:p>
            <a:pPr algn="l"/>
            <a:r>
              <a:rPr sz="1200" b="0">
                <a:solidFill>
                  <a:srgbClr val="B0C4DE"/>
                </a:solidFill>
              </a:rPr>
              <a:t>Without our secret, an attacker</a:t>
            </a:r>
          </a:p>
          <a:p>
            <a:pPr algn="l"/>
            <a:r>
              <a:rPr sz="1200" b="0">
                <a:solidFill>
                  <a:srgbClr val="B0C4DE"/>
                </a:solidFill>
              </a:rPr>
              <a:t>cannot compute fingerprints and</a:t>
            </a:r>
          </a:p>
          <a:p>
            <a:pPr algn="l"/>
            <a:r>
              <a:rPr sz="1200" b="0">
                <a:solidFill>
                  <a:srgbClr val="B0C4DE"/>
                </a:solidFill>
              </a:rPr>
              <a:t>probe whether a card is in the vault.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0D1B3E"/>
                </a:solidFill>
              </a:rPr>
              <a:t>Storing a Card — What Happens Step by Step</a:t>
            </a:r>
          </a:p>
        </p:txBody>
      </p:sp>
      <p:sp>
        <p:nvSpPr>
          <p:cNvPr id="4" name="TextBox 3"/>
          <p:cNvSpPr txBox="1"/>
          <p:nvPr/>
        </p:nvSpPr>
        <p:spPr>
          <a:xfrm>
            <a:off x="274320" y="1234440"/>
            <a:ext cx="2103120" cy="457200"/>
          </a:xfrm>
          <a:prstGeom prst="rect">
            <a:avLst/>
          </a:prstGeom>
          <a:solidFill>
            <a:srgbClr val="0D1B3E"/>
          </a:solidFill>
        </p:spPr>
        <p:txBody>
          <a:bodyPr wrap="square">
            <a:spAutoFit/>
          </a:bodyPr>
          <a:lstStyle/>
          <a:p>
            <a:pPr algn="ctr"/>
            <a:r>
              <a:rPr sz="1300" b="1">
                <a:solidFill>
                  <a:srgbClr val="FFFFFF"/>
                </a:solidFill>
              </a:rPr>
              <a:t>①  Card arrives</a:t>
            </a:r>
          </a:p>
        </p:txBody>
      </p:sp>
      <p:sp>
        <p:nvSpPr>
          <p:cNvPr id="5" name="TextBox 4"/>
          <p:cNvSpPr txBox="1"/>
          <p:nvPr/>
        </p:nvSpPr>
        <p:spPr>
          <a:xfrm>
            <a:off x="365760" y="1737360"/>
            <a:ext cx="1920239" cy="914400"/>
          </a:xfrm>
          <a:prstGeom prst="rect">
            <a:avLst/>
          </a:prstGeom>
          <a:noFill/>
        </p:spPr>
        <p:txBody>
          <a:bodyPr wrap="square">
            <a:spAutoFit/>
          </a:bodyPr>
          <a:lstStyle/>
          <a:p>
            <a:pPr algn="l"/>
            <a:r>
              <a:rPr sz="1200" b="0">
                <a:solidFill>
                  <a:srgbClr val="55657A"/>
                </a:solidFill>
              </a:rPr>
              <a:t>Customer enters card at
checkout. Sent over TLS.</a:t>
            </a:r>
          </a:p>
        </p:txBody>
      </p:sp>
      <p:sp>
        <p:nvSpPr>
          <p:cNvPr id="6" name="TextBox 5"/>
          <p:cNvSpPr txBox="1"/>
          <p:nvPr/>
        </p:nvSpPr>
        <p:spPr>
          <a:xfrm>
            <a:off x="2386583" y="1371600"/>
            <a:ext cx="109728" cy="320040"/>
          </a:xfrm>
          <a:prstGeom prst="rect">
            <a:avLst/>
          </a:prstGeom>
          <a:noFill/>
        </p:spPr>
        <p:txBody>
          <a:bodyPr wrap="square">
            <a:spAutoFit/>
          </a:bodyPr>
          <a:lstStyle/>
          <a:p>
            <a:pPr algn="ctr"/>
            <a:r>
              <a:rPr sz="1400" b="0">
                <a:solidFill>
                  <a:srgbClr val="008C8C"/>
                </a:solidFill>
              </a:rPr>
              <a:t>▶</a:t>
            </a:r>
          </a:p>
        </p:txBody>
      </p:sp>
      <p:sp>
        <p:nvSpPr>
          <p:cNvPr id="7" name="TextBox 6"/>
          <p:cNvSpPr txBox="1"/>
          <p:nvPr/>
        </p:nvSpPr>
        <p:spPr>
          <a:xfrm>
            <a:off x="2468879" y="1234440"/>
            <a:ext cx="2103120" cy="457200"/>
          </a:xfrm>
          <a:prstGeom prst="rect">
            <a:avLst/>
          </a:prstGeom>
          <a:solidFill>
            <a:srgbClr val="1A8C4E"/>
          </a:solidFill>
        </p:spPr>
        <p:txBody>
          <a:bodyPr wrap="square">
            <a:spAutoFit/>
          </a:bodyPr>
          <a:lstStyle/>
          <a:p>
            <a:pPr algn="ctr"/>
            <a:r>
              <a:rPr sz="1300" b="1">
                <a:solidFill>
                  <a:srgbClr val="FFFFFF"/>
                </a:solidFill>
              </a:rPr>
              <a:t>②  Fingerprint check
(HMAC)</a:t>
            </a:r>
          </a:p>
        </p:txBody>
      </p:sp>
      <p:sp>
        <p:nvSpPr>
          <p:cNvPr id="8" name="TextBox 7"/>
          <p:cNvSpPr txBox="1"/>
          <p:nvPr/>
        </p:nvSpPr>
        <p:spPr>
          <a:xfrm>
            <a:off x="2560320" y="1737360"/>
            <a:ext cx="1920239" cy="914400"/>
          </a:xfrm>
          <a:prstGeom prst="rect">
            <a:avLst/>
          </a:prstGeom>
          <a:noFill/>
        </p:spPr>
        <p:txBody>
          <a:bodyPr wrap="square">
            <a:spAutoFit/>
          </a:bodyPr>
          <a:lstStyle/>
          <a:p>
            <a:pPr algn="l"/>
            <a:r>
              <a:rPr sz="1200" b="0">
                <a:solidFill>
                  <a:srgbClr val="55657A"/>
                </a:solidFill>
              </a:rPr>
              <a:t>Is this card already in
the vault?</a:t>
            </a:r>
          </a:p>
        </p:txBody>
      </p:sp>
      <p:sp>
        <p:nvSpPr>
          <p:cNvPr id="9" name="TextBox 8"/>
          <p:cNvSpPr txBox="1"/>
          <p:nvPr/>
        </p:nvSpPr>
        <p:spPr>
          <a:xfrm>
            <a:off x="2468879" y="2788920"/>
            <a:ext cx="2103120" cy="777240"/>
          </a:xfrm>
          <a:prstGeom prst="rect">
            <a:avLst/>
          </a:prstGeom>
          <a:solidFill>
            <a:srgbClr val="E8F4E8"/>
          </a:solidFill>
        </p:spPr>
        <p:txBody>
          <a:bodyPr wrap="square">
            <a:spAutoFit/>
          </a:bodyPr>
          <a:lstStyle/>
          <a:p>
            <a:pPr algn="ctr"/>
            <a:r>
              <a:rPr sz="1100" b="0">
                <a:solidFill>
                  <a:srgbClr val="1A5C1A"/>
                </a:solidFill>
              </a:rPr>
              <a:t>If yes → return existing
token immediately</a:t>
            </a:r>
          </a:p>
        </p:txBody>
      </p:sp>
      <p:sp>
        <p:nvSpPr>
          <p:cNvPr id="10" name="TextBox 9"/>
          <p:cNvSpPr txBox="1"/>
          <p:nvPr/>
        </p:nvSpPr>
        <p:spPr>
          <a:xfrm>
            <a:off x="4581144" y="1371600"/>
            <a:ext cx="109728" cy="320040"/>
          </a:xfrm>
          <a:prstGeom prst="rect">
            <a:avLst/>
          </a:prstGeom>
          <a:noFill/>
        </p:spPr>
        <p:txBody>
          <a:bodyPr wrap="square">
            <a:spAutoFit/>
          </a:bodyPr>
          <a:lstStyle/>
          <a:p>
            <a:pPr algn="ctr"/>
            <a:r>
              <a:rPr sz="1400" b="0">
                <a:solidFill>
                  <a:srgbClr val="008C8C"/>
                </a:solidFill>
              </a:rPr>
              <a:t>▶</a:t>
            </a:r>
          </a:p>
        </p:txBody>
      </p:sp>
      <p:sp>
        <p:nvSpPr>
          <p:cNvPr id="11" name="TextBox 10"/>
          <p:cNvSpPr txBox="1"/>
          <p:nvPr/>
        </p:nvSpPr>
        <p:spPr>
          <a:xfrm>
            <a:off x="4663440" y="1234440"/>
            <a:ext cx="2103120" cy="457200"/>
          </a:xfrm>
          <a:prstGeom prst="rect">
            <a:avLst/>
          </a:prstGeom>
          <a:solidFill>
            <a:srgbClr val="5A3A8C"/>
          </a:solidFill>
        </p:spPr>
        <p:txBody>
          <a:bodyPr wrap="square">
            <a:spAutoFit/>
          </a:bodyPr>
          <a:lstStyle/>
          <a:p>
            <a:pPr algn="ctr"/>
            <a:r>
              <a:rPr sz="1300" b="1">
                <a:solidFill>
                  <a:srgbClr val="FFFFFF"/>
                </a:solidFill>
              </a:rPr>
              <a:t>③  Generate DEK
&amp; encrypt</a:t>
            </a:r>
          </a:p>
        </p:txBody>
      </p:sp>
      <p:sp>
        <p:nvSpPr>
          <p:cNvPr id="12" name="TextBox 11"/>
          <p:cNvSpPr txBox="1"/>
          <p:nvPr/>
        </p:nvSpPr>
        <p:spPr>
          <a:xfrm>
            <a:off x="4754879" y="1737360"/>
            <a:ext cx="1920239" cy="914400"/>
          </a:xfrm>
          <a:prstGeom prst="rect">
            <a:avLst/>
          </a:prstGeom>
          <a:noFill/>
        </p:spPr>
        <p:txBody>
          <a:bodyPr wrap="square">
            <a:spAutoFit/>
          </a:bodyPr>
          <a:lstStyle/>
          <a:p>
            <a:pPr algn="l"/>
            <a:r>
              <a:rPr sz="1200" b="0">
                <a:solidFill>
                  <a:srgbClr val="55657A"/>
                </a:solidFill>
              </a:rPr>
              <a:t>Fresh padlock (DEK) created.
Card sealed with AES-256.</a:t>
            </a:r>
          </a:p>
        </p:txBody>
      </p:sp>
      <p:sp>
        <p:nvSpPr>
          <p:cNvPr id="13" name="TextBox 12"/>
          <p:cNvSpPr txBox="1"/>
          <p:nvPr/>
        </p:nvSpPr>
        <p:spPr>
          <a:xfrm>
            <a:off x="4663440" y="2788920"/>
            <a:ext cx="2103120" cy="777240"/>
          </a:xfrm>
          <a:prstGeom prst="rect">
            <a:avLst/>
          </a:prstGeom>
          <a:solidFill>
            <a:srgbClr val="E8F4E8"/>
          </a:solidFill>
        </p:spPr>
        <p:txBody>
          <a:bodyPr wrap="square">
            <a:spAutoFit/>
          </a:bodyPr>
          <a:lstStyle/>
          <a:p>
            <a:pPr algn="ctr"/>
            <a:r>
              <a:rPr sz="1100" b="0">
                <a:solidFill>
                  <a:srgbClr val="1A5C1A"/>
                </a:solidFill>
              </a:rPr>
              <a:t>DEK is unique per card.
Card never touches disk
unencrypted.</a:t>
            </a:r>
          </a:p>
        </p:txBody>
      </p:sp>
      <p:sp>
        <p:nvSpPr>
          <p:cNvPr id="14" name="TextBox 13"/>
          <p:cNvSpPr txBox="1"/>
          <p:nvPr/>
        </p:nvSpPr>
        <p:spPr>
          <a:xfrm>
            <a:off x="6775703" y="1371600"/>
            <a:ext cx="109728" cy="320040"/>
          </a:xfrm>
          <a:prstGeom prst="rect">
            <a:avLst/>
          </a:prstGeom>
          <a:noFill/>
        </p:spPr>
        <p:txBody>
          <a:bodyPr wrap="square">
            <a:spAutoFit/>
          </a:bodyPr>
          <a:lstStyle/>
          <a:p>
            <a:pPr algn="ctr"/>
            <a:r>
              <a:rPr sz="1400" b="0">
                <a:solidFill>
                  <a:srgbClr val="008C8C"/>
                </a:solidFill>
              </a:rPr>
              <a:t>▶</a:t>
            </a:r>
          </a:p>
        </p:txBody>
      </p:sp>
      <p:sp>
        <p:nvSpPr>
          <p:cNvPr id="15" name="TextBox 14"/>
          <p:cNvSpPr txBox="1"/>
          <p:nvPr/>
        </p:nvSpPr>
        <p:spPr>
          <a:xfrm>
            <a:off x="6857999" y="1234440"/>
            <a:ext cx="2103120" cy="457200"/>
          </a:xfrm>
          <a:prstGeom prst="rect">
            <a:avLst/>
          </a:prstGeom>
          <a:solidFill>
            <a:srgbClr val="1A5C8C"/>
          </a:solidFill>
        </p:spPr>
        <p:txBody>
          <a:bodyPr wrap="square">
            <a:spAutoFit/>
          </a:bodyPr>
          <a:lstStyle/>
          <a:p>
            <a:pPr algn="ctr"/>
            <a:r>
              <a:rPr sz="1300" b="1">
                <a:solidFill>
                  <a:srgbClr val="FFFFFF"/>
                </a:solidFill>
              </a:rPr>
              <a:t>④  Lock the DEK
via KMS</a:t>
            </a:r>
          </a:p>
        </p:txBody>
      </p:sp>
      <p:sp>
        <p:nvSpPr>
          <p:cNvPr id="16" name="TextBox 15"/>
          <p:cNvSpPr txBox="1"/>
          <p:nvPr/>
        </p:nvSpPr>
        <p:spPr>
          <a:xfrm>
            <a:off x="6949439" y="1737360"/>
            <a:ext cx="1920239" cy="914400"/>
          </a:xfrm>
          <a:prstGeom prst="rect">
            <a:avLst/>
          </a:prstGeom>
          <a:noFill/>
        </p:spPr>
        <p:txBody>
          <a:bodyPr wrap="square">
            <a:spAutoFit/>
          </a:bodyPr>
          <a:lstStyle/>
          <a:p>
            <a:pPr algn="l"/>
            <a:r>
              <a:rPr sz="1200" b="0">
                <a:solidFill>
                  <a:srgbClr val="55657A"/>
                </a:solidFill>
              </a:rPr>
              <a:t>DEK sent to AWS KMS.
KMS locks it with the
master key (KEK).</a:t>
            </a:r>
          </a:p>
        </p:txBody>
      </p:sp>
      <p:sp>
        <p:nvSpPr>
          <p:cNvPr id="17" name="TextBox 16"/>
          <p:cNvSpPr txBox="1"/>
          <p:nvPr/>
        </p:nvSpPr>
        <p:spPr>
          <a:xfrm>
            <a:off x="6857999" y="2788920"/>
            <a:ext cx="2103120" cy="777240"/>
          </a:xfrm>
          <a:prstGeom prst="rect">
            <a:avLst/>
          </a:prstGeom>
          <a:solidFill>
            <a:srgbClr val="E8F4E8"/>
          </a:solidFill>
        </p:spPr>
        <p:txBody>
          <a:bodyPr wrap="square">
            <a:spAutoFit/>
          </a:bodyPr>
          <a:lstStyle/>
          <a:p>
            <a:pPr algn="ctr"/>
            <a:r>
              <a:rPr sz="1100" b="0">
                <a:solidFill>
                  <a:srgbClr val="1A5C1A"/>
                </a:solidFill>
              </a:rPr>
              <a:t>Master key stays in KMS.
We receive only the
locked DEK back.</a:t>
            </a:r>
          </a:p>
        </p:txBody>
      </p:sp>
      <p:sp>
        <p:nvSpPr>
          <p:cNvPr id="18" name="TextBox 17"/>
          <p:cNvSpPr txBox="1"/>
          <p:nvPr/>
        </p:nvSpPr>
        <p:spPr>
          <a:xfrm>
            <a:off x="8970263" y="1371600"/>
            <a:ext cx="109728" cy="320040"/>
          </a:xfrm>
          <a:prstGeom prst="rect">
            <a:avLst/>
          </a:prstGeom>
          <a:noFill/>
        </p:spPr>
        <p:txBody>
          <a:bodyPr wrap="square">
            <a:spAutoFit/>
          </a:bodyPr>
          <a:lstStyle/>
          <a:p>
            <a:pPr algn="ctr"/>
            <a:r>
              <a:rPr sz="1400" b="0">
                <a:solidFill>
                  <a:srgbClr val="008C8C"/>
                </a:solidFill>
              </a:rPr>
              <a:t>▶</a:t>
            </a:r>
          </a:p>
        </p:txBody>
      </p:sp>
      <p:sp>
        <p:nvSpPr>
          <p:cNvPr id="19" name="TextBox 18"/>
          <p:cNvSpPr txBox="1"/>
          <p:nvPr/>
        </p:nvSpPr>
        <p:spPr>
          <a:xfrm>
            <a:off x="9052560" y="1234440"/>
            <a:ext cx="2103120" cy="457200"/>
          </a:xfrm>
          <a:prstGeom prst="rect">
            <a:avLst/>
          </a:prstGeom>
          <a:solidFill>
            <a:srgbClr val="008C8C"/>
          </a:solidFill>
        </p:spPr>
        <p:txBody>
          <a:bodyPr wrap="square">
            <a:spAutoFit/>
          </a:bodyPr>
          <a:lstStyle/>
          <a:p>
            <a:pPr algn="ctr"/>
            <a:r>
              <a:rPr sz="1300" b="1">
                <a:solidFill>
                  <a:srgbClr val="FFFFFF"/>
                </a:solidFill>
              </a:rPr>
              <a:t>⑤  Store &amp; return
token</a:t>
            </a:r>
          </a:p>
        </p:txBody>
      </p:sp>
      <p:sp>
        <p:nvSpPr>
          <p:cNvPr id="20" name="TextBox 19"/>
          <p:cNvSpPr txBox="1"/>
          <p:nvPr/>
        </p:nvSpPr>
        <p:spPr>
          <a:xfrm>
            <a:off x="9144000" y="1737360"/>
            <a:ext cx="1920239" cy="914400"/>
          </a:xfrm>
          <a:prstGeom prst="rect">
            <a:avLst/>
          </a:prstGeom>
          <a:noFill/>
        </p:spPr>
        <p:txBody>
          <a:bodyPr wrap="square">
            <a:spAutoFit/>
          </a:bodyPr>
          <a:lstStyle/>
          <a:p>
            <a:pPr algn="l"/>
            <a:r>
              <a:rPr sz="1200" b="0">
                <a:solidFill>
                  <a:srgbClr val="55657A"/>
                </a:solidFill>
              </a:rPr>
              <a:t>Token + fingerprint +
encrypted card + locked DEK
stored in vault.</a:t>
            </a:r>
          </a:p>
        </p:txBody>
      </p:sp>
      <p:sp>
        <p:nvSpPr>
          <p:cNvPr id="21" name="TextBox 20"/>
          <p:cNvSpPr txBox="1"/>
          <p:nvPr/>
        </p:nvSpPr>
        <p:spPr>
          <a:xfrm>
            <a:off x="9052560" y="2788920"/>
            <a:ext cx="2103120" cy="777240"/>
          </a:xfrm>
          <a:prstGeom prst="rect">
            <a:avLst/>
          </a:prstGeom>
          <a:solidFill>
            <a:srgbClr val="E8F4E8"/>
          </a:solidFill>
        </p:spPr>
        <p:txBody>
          <a:bodyPr wrap="square">
            <a:spAutoFit/>
          </a:bodyPr>
          <a:lstStyle/>
          <a:p>
            <a:pPr algn="ctr"/>
            <a:r>
              <a:rPr sz="1100" b="0">
                <a:solidFill>
                  <a:srgbClr val="1A5C1A"/>
                </a:solidFill>
              </a:rPr>
              <a:t>Token returned to merchant.
All key material zeroed
from memory.</a:t>
            </a:r>
          </a:p>
        </p:txBody>
      </p:sp>
      <p:sp>
        <p:nvSpPr>
          <p:cNvPr id="22" name="TextBox 21"/>
          <p:cNvSpPr txBox="1"/>
          <p:nvPr/>
        </p:nvSpPr>
        <p:spPr>
          <a:xfrm>
            <a:off x="274320" y="3749039"/>
            <a:ext cx="11612880" cy="365760"/>
          </a:xfrm>
          <a:prstGeom prst="rect">
            <a:avLst/>
          </a:prstGeom>
          <a:noFill/>
        </p:spPr>
        <p:txBody>
          <a:bodyPr wrap="square">
            <a:spAutoFit/>
          </a:bodyPr>
          <a:lstStyle/>
          <a:p>
            <a:pPr algn="l"/>
            <a:r>
              <a:rPr sz="1400" b="1">
                <a:solidFill>
                  <a:srgbClr val="0D1B3E"/>
                </a:solidFill>
              </a:rPr>
              <a:t>What ends up in the vault database for each card:</a:t>
            </a:r>
          </a:p>
        </p:txBody>
      </p:sp>
      <p:sp>
        <p:nvSpPr>
          <p:cNvPr id="23" name="TextBox 22"/>
          <p:cNvSpPr txBox="1"/>
          <p:nvPr/>
        </p:nvSpPr>
        <p:spPr>
          <a:xfrm>
            <a:off x="274320" y="4206240"/>
            <a:ext cx="2240280" cy="457200"/>
          </a:xfrm>
          <a:prstGeom prst="rect">
            <a:avLst/>
          </a:prstGeom>
          <a:solidFill>
            <a:srgbClr val="008C8C"/>
          </a:solidFill>
        </p:spPr>
        <p:txBody>
          <a:bodyPr wrap="square">
            <a:spAutoFit/>
          </a:bodyPr>
          <a:lstStyle/>
          <a:p>
            <a:pPr algn="ctr"/>
            <a:r>
              <a:rPr sz="1300" b="1">
                <a:solidFill>
                  <a:srgbClr val="FFFFFF"/>
                </a:solidFill>
              </a:rPr>
              <a:t>Token</a:t>
            </a:r>
          </a:p>
        </p:txBody>
      </p:sp>
      <p:sp>
        <p:nvSpPr>
          <p:cNvPr id="24" name="TextBox 23"/>
          <p:cNvSpPr txBox="1"/>
          <p:nvPr/>
        </p:nvSpPr>
        <p:spPr>
          <a:xfrm>
            <a:off x="365760" y="4709160"/>
            <a:ext cx="2103120" cy="365760"/>
          </a:xfrm>
          <a:prstGeom prst="rect">
            <a:avLst/>
          </a:prstGeom>
          <a:noFill/>
        </p:spPr>
        <p:txBody>
          <a:bodyPr wrap="square">
            <a:spAutoFit/>
          </a:bodyPr>
          <a:lstStyle/>
          <a:p>
            <a:pPr algn="l"/>
            <a:r>
              <a:rPr sz="1100" b="0">
                <a:solidFill>
                  <a:srgbClr val="55657A"/>
                </a:solidFill>
              </a:rPr>
              <a:t>3a4f9d2e-…</a:t>
            </a:r>
          </a:p>
        </p:txBody>
      </p:sp>
      <p:sp>
        <p:nvSpPr>
          <p:cNvPr id="25" name="TextBox 24"/>
          <p:cNvSpPr txBox="1"/>
          <p:nvPr/>
        </p:nvSpPr>
        <p:spPr>
          <a:xfrm>
            <a:off x="365760" y="5074920"/>
            <a:ext cx="2103120" cy="502920"/>
          </a:xfrm>
          <a:prstGeom prst="rect">
            <a:avLst/>
          </a:prstGeom>
          <a:noFill/>
        </p:spPr>
        <p:txBody>
          <a:bodyPr wrap="square">
            <a:spAutoFit/>
          </a:bodyPr>
          <a:lstStyle/>
          <a:p>
            <a:pPr algn="l"/>
            <a:r>
              <a:rPr sz="1100" b="0">
                <a:solidFill>
                  <a:srgbClr val="55657A"/>
                </a:solidFill>
              </a:rPr>
              <a:t>Shared with
merchants</a:t>
            </a:r>
          </a:p>
        </p:txBody>
      </p:sp>
      <p:sp>
        <p:nvSpPr>
          <p:cNvPr id="26" name="TextBox 25"/>
          <p:cNvSpPr txBox="1"/>
          <p:nvPr/>
        </p:nvSpPr>
        <p:spPr>
          <a:xfrm>
            <a:off x="2651760" y="4206240"/>
            <a:ext cx="2240280" cy="457200"/>
          </a:xfrm>
          <a:prstGeom prst="rect">
            <a:avLst/>
          </a:prstGeom>
          <a:solidFill>
            <a:srgbClr val="1A8C4E"/>
          </a:solidFill>
        </p:spPr>
        <p:txBody>
          <a:bodyPr wrap="square">
            <a:spAutoFit/>
          </a:bodyPr>
          <a:lstStyle/>
          <a:p>
            <a:pPr algn="ctr"/>
            <a:r>
              <a:rPr sz="1300" b="1">
                <a:solidFill>
                  <a:srgbClr val="FFFFFF"/>
                </a:solidFill>
              </a:rPr>
              <a:t>Fingerprint</a:t>
            </a:r>
          </a:p>
        </p:txBody>
      </p:sp>
      <p:sp>
        <p:nvSpPr>
          <p:cNvPr id="27" name="TextBox 26"/>
          <p:cNvSpPr txBox="1"/>
          <p:nvPr/>
        </p:nvSpPr>
        <p:spPr>
          <a:xfrm>
            <a:off x="2743200" y="4709160"/>
            <a:ext cx="2103120" cy="365760"/>
          </a:xfrm>
          <a:prstGeom prst="rect">
            <a:avLst/>
          </a:prstGeom>
          <a:noFill/>
        </p:spPr>
        <p:txBody>
          <a:bodyPr wrap="square">
            <a:spAutoFit/>
          </a:bodyPr>
          <a:lstStyle/>
          <a:p>
            <a:pPr algn="l"/>
            <a:r>
              <a:rPr sz="1100" b="0">
                <a:solidFill>
                  <a:srgbClr val="55657A"/>
                </a:solidFill>
              </a:rPr>
              <a:t>a7f3c8d2-…</a:t>
            </a:r>
          </a:p>
        </p:txBody>
      </p:sp>
      <p:sp>
        <p:nvSpPr>
          <p:cNvPr id="28" name="TextBox 27"/>
          <p:cNvSpPr txBox="1"/>
          <p:nvPr/>
        </p:nvSpPr>
        <p:spPr>
          <a:xfrm>
            <a:off x="2743200" y="5074920"/>
            <a:ext cx="2103120" cy="502920"/>
          </a:xfrm>
          <a:prstGeom prst="rect">
            <a:avLst/>
          </a:prstGeom>
          <a:noFill/>
        </p:spPr>
        <p:txBody>
          <a:bodyPr wrap="square">
            <a:spAutoFit/>
          </a:bodyPr>
          <a:lstStyle/>
          <a:p>
            <a:pPr algn="l"/>
            <a:r>
              <a:rPr sz="1100" b="0">
                <a:solidFill>
                  <a:srgbClr val="55657A"/>
                </a:solidFill>
              </a:rPr>
              <a:t>Dedup check
only</a:t>
            </a:r>
          </a:p>
        </p:txBody>
      </p:sp>
      <p:sp>
        <p:nvSpPr>
          <p:cNvPr id="29" name="TextBox 28"/>
          <p:cNvSpPr txBox="1"/>
          <p:nvPr/>
        </p:nvSpPr>
        <p:spPr>
          <a:xfrm>
            <a:off x="5029200" y="4206240"/>
            <a:ext cx="2240280" cy="457200"/>
          </a:xfrm>
          <a:prstGeom prst="rect">
            <a:avLst/>
          </a:prstGeom>
          <a:solidFill>
            <a:srgbClr val="5A3A8C"/>
          </a:solidFill>
        </p:spPr>
        <p:txBody>
          <a:bodyPr wrap="square">
            <a:spAutoFit/>
          </a:bodyPr>
          <a:lstStyle/>
          <a:p>
            <a:pPr algn="ctr"/>
            <a:r>
              <a:rPr sz="1300" b="1">
                <a:solidFill>
                  <a:srgbClr val="FFFFFF"/>
                </a:solidFill>
              </a:rPr>
              <a:t>Encrypted PAN</a:t>
            </a:r>
          </a:p>
        </p:txBody>
      </p:sp>
      <p:sp>
        <p:nvSpPr>
          <p:cNvPr id="30" name="TextBox 29"/>
          <p:cNvSpPr txBox="1"/>
          <p:nvPr/>
        </p:nvSpPr>
        <p:spPr>
          <a:xfrm>
            <a:off x="5120640" y="4709160"/>
            <a:ext cx="2103120" cy="365760"/>
          </a:xfrm>
          <a:prstGeom prst="rect">
            <a:avLst/>
          </a:prstGeom>
          <a:noFill/>
        </p:spPr>
        <p:txBody>
          <a:bodyPr wrap="square">
            <a:spAutoFit/>
          </a:bodyPr>
          <a:lstStyle/>
          <a:p>
            <a:pPr algn="l"/>
            <a:r>
              <a:rPr sz="1100" b="0">
                <a:solidFill>
                  <a:srgbClr val="55657A"/>
                </a:solidFill>
              </a:rPr>
              <a:t>▓▒░▓▒▒░▓▒░…</a:t>
            </a:r>
          </a:p>
        </p:txBody>
      </p:sp>
      <p:sp>
        <p:nvSpPr>
          <p:cNvPr id="31" name="TextBox 30"/>
          <p:cNvSpPr txBox="1"/>
          <p:nvPr/>
        </p:nvSpPr>
        <p:spPr>
          <a:xfrm>
            <a:off x="5120640" y="5074920"/>
            <a:ext cx="2103120" cy="502920"/>
          </a:xfrm>
          <a:prstGeom prst="rect">
            <a:avLst/>
          </a:prstGeom>
          <a:noFill/>
        </p:spPr>
        <p:txBody>
          <a:bodyPr wrap="square">
            <a:spAutoFit/>
          </a:bodyPr>
          <a:lstStyle/>
          <a:p>
            <a:pPr algn="l"/>
            <a:r>
              <a:rPr sz="1100" b="0">
                <a:solidFill>
                  <a:srgbClr val="55657A"/>
                </a:solidFill>
              </a:rPr>
              <a:t>Useless without
the DEK</a:t>
            </a:r>
          </a:p>
        </p:txBody>
      </p:sp>
      <p:sp>
        <p:nvSpPr>
          <p:cNvPr id="32" name="TextBox 31"/>
          <p:cNvSpPr txBox="1"/>
          <p:nvPr/>
        </p:nvSpPr>
        <p:spPr>
          <a:xfrm>
            <a:off x="7406640" y="4206240"/>
            <a:ext cx="2240280" cy="457200"/>
          </a:xfrm>
          <a:prstGeom prst="rect">
            <a:avLst/>
          </a:prstGeom>
          <a:solidFill>
            <a:srgbClr val="1A5C8C"/>
          </a:solidFill>
        </p:spPr>
        <p:txBody>
          <a:bodyPr wrap="square">
            <a:spAutoFit/>
          </a:bodyPr>
          <a:lstStyle/>
          <a:p>
            <a:pPr algn="ctr"/>
            <a:r>
              <a:rPr sz="1300" b="1">
                <a:solidFill>
                  <a:srgbClr val="FFFFFF"/>
                </a:solidFill>
              </a:rPr>
              <a:t>Locked DEK</a:t>
            </a:r>
          </a:p>
        </p:txBody>
      </p:sp>
      <p:sp>
        <p:nvSpPr>
          <p:cNvPr id="33" name="TextBox 32"/>
          <p:cNvSpPr txBox="1"/>
          <p:nvPr/>
        </p:nvSpPr>
        <p:spPr>
          <a:xfrm>
            <a:off x="7498080" y="4709160"/>
            <a:ext cx="2103120" cy="365760"/>
          </a:xfrm>
          <a:prstGeom prst="rect">
            <a:avLst/>
          </a:prstGeom>
          <a:noFill/>
        </p:spPr>
        <p:txBody>
          <a:bodyPr wrap="square">
            <a:spAutoFit/>
          </a:bodyPr>
          <a:lstStyle/>
          <a:p>
            <a:pPr algn="l"/>
            <a:r>
              <a:rPr sz="1100" b="0">
                <a:solidFill>
                  <a:srgbClr val="55657A"/>
                </a:solidFill>
              </a:rPr>
              <a:t>KMS-wrapped key</a:t>
            </a:r>
          </a:p>
        </p:txBody>
      </p:sp>
      <p:sp>
        <p:nvSpPr>
          <p:cNvPr id="34" name="TextBox 33"/>
          <p:cNvSpPr txBox="1"/>
          <p:nvPr/>
        </p:nvSpPr>
        <p:spPr>
          <a:xfrm>
            <a:off x="7498080" y="5074920"/>
            <a:ext cx="2103120" cy="502920"/>
          </a:xfrm>
          <a:prstGeom prst="rect">
            <a:avLst/>
          </a:prstGeom>
          <a:noFill/>
        </p:spPr>
        <p:txBody>
          <a:bodyPr wrap="square">
            <a:spAutoFit/>
          </a:bodyPr>
          <a:lstStyle/>
          <a:p>
            <a:pPr algn="l"/>
            <a:r>
              <a:rPr sz="1100" b="0">
                <a:solidFill>
                  <a:srgbClr val="55657A"/>
                </a:solidFill>
              </a:rPr>
              <a:t>Useless without
the master key</a:t>
            </a:r>
          </a:p>
        </p:txBody>
      </p:sp>
      <p:sp>
        <p:nvSpPr>
          <p:cNvPr id="35" name="TextBox 34"/>
          <p:cNvSpPr txBox="1"/>
          <p:nvPr/>
        </p:nvSpPr>
        <p:spPr>
          <a:xfrm>
            <a:off x="9784080" y="4206240"/>
            <a:ext cx="2240280" cy="457200"/>
          </a:xfrm>
          <a:prstGeom prst="rect">
            <a:avLst/>
          </a:prstGeom>
          <a:solidFill>
            <a:srgbClr val="0D1B3E"/>
          </a:solidFill>
        </p:spPr>
        <p:txBody>
          <a:bodyPr wrap="square">
            <a:spAutoFit/>
          </a:bodyPr>
          <a:lstStyle/>
          <a:p>
            <a:pPr algn="ctr"/>
            <a:r>
              <a:rPr sz="1300" b="1">
                <a:solidFill>
                  <a:srgbClr val="FFFFFF"/>
                </a:solidFill>
              </a:rPr>
              <a:t>Last 4 digits</a:t>
            </a:r>
          </a:p>
        </p:txBody>
      </p:sp>
      <p:sp>
        <p:nvSpPr>
          <p:cNvPr id="36" name="TextBox 35"/>
          <p:cNvSpPr txBox="1"/>
          <p:nvPr/>
        </p:nvSpPr>
        <p:spPr>
          <a:xfrm>
            <a:off x="9875520" y="4709160"/>
            <a:ext cx="2103120" cy="365760"/>
          </a:xfrm>
          <a:prstGeom prst="rect">
            <a:avLst/>
          </a:prstGeom>
          <a:noFill/>
        </p:spPr>
        <p:txBody>
          <a:bodyPr wrap="square">
            <a:spAutoFit/>
          </a:bodyPr>
          <a:lstStyle/>
          <a:p>
            <a:pPr algn="l"/>
            <a:r>
              <a:rPr sz="1100" b="0">
                <a:solidFill>
                  <a:srgbClr val="55657A"/>
                </a:solidFill>
              </a:rPr>
              <a:t>1049</a:t>
            </a:r>
          </a:p>
        </p:txBody>
      </p:sp>
      <p:sp>
        <p:nvSpPr>
          <p:cNvPr id="37" name="TextBox 36"/>
          <p:cNvSpPr txBox="1"/>
          <p:nvPr/>
        </p:nvSpPr>
        <p:spPr>
          <a:xfrm>
            <a:off x="9875520" y="5074920"/>
            <a:ext cx="2103120" cy="502920"/>
          </a:xfrm>
          <a:prstGeom prst="rect">
            <a:avLst/>
          </a:prstGeom>
          <a:noFill/>
        </p:spPr>
        <p:txBody>
          <a:bodyPr wrap="square">
            <a:spAutoFit/>
          </a:bodyPr>
          <a:lstStyle/>
          <a:p>
            <a:pPr algn="l"/>
            <a:r>
              <a:rPr sz="1100" b="0">
                <a:solidFill>
                  <a:srgbClr val="55657A"/>
                </a:solidFill>
              </a:rPr>
              <a:t>Safe to store;
not a PAN</a:t>
            </a:r>
          </a:p>
        </p:txBody>
      </p:sp>
      <p:sp>
        <p:nvSpPr>
          <p:cNvPr id="38" name="TextBox 37"/>
          <p:cNvSpPr txBox="1"/>
          <p:nvPr/>
        </p:nvSpPr>
        <p:spPr>
          <a:xfrm>
            <a:off x="274320" y="5760720"/>
            <a:ext cx="11612880" cy="594360"/>
          </a:xfrm>
          <a:prstGeom prst="rect">
            <a:avLst/>
          </a:prstGeom>
          <a:solidFill>
            <a:srgbClr val="0D1B3E"/>
          </a:solidFill>
        </p:spPr>
        <p:txBody>
          <a:bodyPr wrap="square">
            <a:spAutoFit/>
          </a:bodyPr>
          <a:lstStyle/>
          <a:p>
            <a:pPr algn="ctr"/>
            <a:r>
              <a:rPr sz="1400" b="1">
                <a:solidFill>
                  <a:srgbClr val="FFFFFF"/>
                </a:solidFill>
              </a:rPr>
              <a:t>The real card number (PAN) is never written to the database — only its encrypted form and a one-way fingerprint.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0D1B3E"/>
                </a:solidFill>
              </a:rPr>
              <a:t>Retrieving a Card — What Happens Step by Step</a:t>
            </a:r>
          </a:p>
        </p:txBody>
      </p:sp>
      <p:sp>
        <p:nvSpPr>
          <p:cNvPr id="4" name="TextBox 3"/>
          <p:cNvSpPr txBox="1"/>
          <p:nvPr/>
        </p:nvSpPr>
        <p:spPr>
          <a:xfrm>
            <a:off x="274320" y="1234440"/>
            <a:ext cx="2103120" cy="457200"/>
          </a:xfrm>
          <a:prstGeom prst="rect">
            <a:avLst/>
          </a:prstGeom>
          <a:solidFill>
            <a:srgbClr val="0D1B3E"/>
          </a:solidFill>
        </p:spPr>
        <p:txBody>
          <a:bodyPr wrap="square">
            <a:spAutoFit/>
          </a:bodyPr>
          <a:lstStyle/>
          <a:p>
            <a:pPr algn="ctr"/>
            <a:r>
              <a:rPr sz="1300" b="1">
                <a:solidFill>
                  <a:srgbClr val="FFFFFF"/>
                </a:solidFill>
              </a:rPr>
              <a:t>①  Token arrives</a:t>
            </a:r>
          </a:p>
        </p:txBody>
      </p:sp>
      <p:sp>
        <p:nvSpPr>
          <p:cNvPr id="5" name="TextBox 4"/>
          <p:cNvSpPr txBox="1"/>
          <p:nvPr/>
        </p:nvSpPr>
        <p:spPr>
          <a:xfrm>
            <a:off x="365760" y="1737360"/>
            <a:ext cx="1920239" cy="960120"/>
          </a:xfrm>
          <a:prstGeom prst="rect">
            <a:avLst/>
          </a:prstGeom>
          <a:noFill/>
        </p:spPr>
        <p:txBody>
          <a:bodyPr wrap="square">
            <a:spAutoFit/>
          </a:bodyPr>
          <a:lstStyle/>
          <a:p>
            <a:pPr algn="l"/>
            <a:r>
              <a:rPr sz="1200" b="0">
                <a:solidFill>
                  <a:srgbClr val="55657A"/>
                </a:solidFill>
              </a:rPr>
              <a:t>Payment processor sends
token. Rate-limited:
10,000 / minute / caller.</a:t>
            </a:r>
          </a:p>
        </p:txBody>
      </p:sp>
      <p:sp>
        <p:nvSpPr>
          <p:cNvPr id="6" name="TextBox 5"/>
          <p:cNvSpPr txBox="1"/>
          <p:nvPr/>
        </p:nvSpPr>
        <p:spPr>
          <a:xfrm>
            <a:off x="274320" y="2788920"/>
            <a:ext cx="2103120" cy="777240"/>
          </a:xfrm>
          <a:prstGeom prst="rect">
            <a:avLst/>
          </a:prstGeom>
          <a:solidFill>
            <a:srgbClr val="E8EEF8"/>
          </a:solidFill>
        </p:spPr>
        <p:txBody>
          <a:bodyPr wrap="square">
            <a:spAutoFit/>
          </a:bodyPr>
          <a:lstStyle/>
          <a:p>
            <a:pPr algn="ctr"/>
            <a:r>
              <a:rPr sz="1100" b="0">
                <a:solidFill>
                  <a:srgbClr val="1A5C8C"/>
                </a:solidFill>
              </a:rPr>
              <a:t>Every request is
logged with who,
when, and which token.</a:t>
            </a:r>
          </a:p>
        </p:txBody>
      </p:sp>
      <p:sp>
        <p:nvSpPr>
          <p:cNvPr id="7" name="TextBox 6"/>
          <p:cNvSpPr txBox="1"/>
          <p:nvPr/>
        </p:nvSpPr>
        <p:spPr>
          <a:xfrm>
            <a:off x="2386583" y="1371600"/>
            <a:ext cx="109728" cy="320040"/>
          </a:xfrm>
          <a:prstGeom prst="rect">
            <a:avLst/>
          </a:prstGeom>
          <a:noFill/>
        </p:spPr>
        <p:txBody>
          <a:bodyPr wrap="square">
            <a:spAutoFit/>
          </a:bodyPr>
          <a:lstStyle/>
          <a:p>
            <a:pPr algn="ctr"/>
            <a:r>
              <a:rPr sz="1400" b="0">
                <a:solidFill>
                  <a:srgbClr val="008C8C"/>
                </a:solidFill>
              </a:rPr>
              <a:t>▶</a:t>
            </a:r>
          </a:p>
        </p:txBody>
      </p:sp>
      <p:sp>
        <p:nvSpPr>
          <p:cNvPr id="8" name="TextBox 7"/>
          <p:cNvSpPr txBox="1"/>
          <p:nvPr/>
        </p:nvSpPr>
        <p:spPr>
          <a:xfrm>
            <a:off x="2468879" y="1234440"/>
            <a:ext cx="2103120" cy="457200"/>
          </a:xfrm>
          <a:prstGeom prst="rect">
            <a:avLst/>
          </a:prstGeom>
          <a:solidFill>
            <a:srgbClr val="008C8C"/>
          </a:solidFill>
        </p:spPr>
        <p:txBody>
          <a:bodyPr wrap="square">
            <a:spAutoFit/>
          </a:bodyPr>
          <a:lstStyle/>
          <a:p>
            <a:pPr algn="ctr"/>
            <a:r>
              <a:rPr sz="1300" b="1">
                <a:solidFill>
                  <a:srgbClr val="FFFFFF"/>
                </a:solidFill>
              </a:rPr>
              <a:t>②  Vault lookup</a:t>
            </a:r>
          </a:p>
        </p:txBody>
      </p:sp>
      <p:sp>
        <p:nvSpPr>
          <p:cNvPr id="9" name="TextBox 8"/>
          <p:cNvSpPr txBox="1"/>
          <p:nvPr/>
        </p:nvSpPr>
        <p:spPr>
          <a:xfrm>
            <a:off x="2560320" y="1737360"/>
            <a:ext cx="1920239" cy="960120"/>
          </a:xfrm>
          <a:prstGeom prst="rect">
            <a:avLst/>
          </a:prstGeom>
          <a:noFill/>
        </p:spPr>
        <p:txBody>
          <a:bodyPr wrap="square">
            <a:spAutoFit/>
          </a:bodyPr>
          <a:lstStyle/>
          <a:p>
            <a:pPr algn="l"/>
            <a:r>
              <a:rPr sz="1200" b="0">
                <a:solidFill>
                  <a:srgbClr val="55657A"/>
                </a:solidFill>
              </a:rPr>
              <a:t>Encrypted PAN + locked
DEK fetched from vault
using the token.</a:t>
            </a:r>
          </a:p>
        </p:txBody>
      </p:sp>
      <p:sp>
        <p:nvSpPr>
          <p:cNvPr id="10" name="TextBox 9"/>
          <p:cNvSpPr txBox="1"/>
          <p:nvPr/>
        </p:nvSpPr>
        <p:spPr>
          <a:xfrm>
            <a:off x="2468879" y="2788920"/>
            <a:ext cx="2103120" cy="777240"/>
          </a:xfrm>
          <a:prstGeom prst="rect">
            <a:avLst/>
          </a:prstGeom>
          <a:solidFill>
            <a:srgbClr val="E8EEF8"/>
          </a:solidFill>
        </p:spPr>
        <p:txBody>
          <a:bodyPr wrap="square">
            <a:spAutoFit/>
          </a:bodyPr>
          <a:lstStyle/>
          <a:p>
            <a:pPr algn="ctr"/>
            <a:r>
              <a:rPr sz="1100" b="0">
                <a:solidFill>
                  <a:srgbClr val="1A5C8C"/>
                </a:solidFill>
              </a:rPr>
              <a:t>Lookup is by token only.
No PAN in the query.</a:t>
            </a:r>
          </a:p>
        </p:txBody>
      </p:sp>
      <p:sp>
        <p:nvSpPr>
          <p:cNvPr id="11" name="TextBox 10"/>
          <p:cNvSpPr txBox="1"/>
          <p:nvPr/>
        </p:nvSpPr>
        <p:spPr>
          <a:xfrm>
            <a:off x="4581144" y="1371600"/>
            <a:ext cx="109728" cy="320040"/>
          </a:xfrm>
          <a:prstGeom prst="rect">
            <a:avLst/>
          </a:prstGeom>
          <a:noFill/>
        </p:spPr>
        <p:txBody>
          <a:bodyPr wrap="square">
            <a:spAutoFit/>
          </a:bodyPr>
          <a:lstStyle/>
          <a:p>
            <a:pPr algn="ctr"/>
            <a:r>
              <a:rPr sz="1400" b="0">
                <a:solidFill>
                  <a:srgbClr val="008C8C"/>
                </a:solidFill>
              </a:rPr>
              <a:t>▶</a:t>
            </a:r>
          </a:p>
        </p:txBody>
      </p:sp>
      <p:sp>
        <p:nvSpPr>
          <p:cNvPr id="12" name="TextBox 11"/>
          <p:cNvSpPr txBox="1"/>
          <p:nvPr/>
        </p:nvSpPr>
        <p:spPr>
          <a:xfrm>
            <a:off x="4663440" y="1234440"/>
            <a:ext cx="2103120" cy="457200"/>
          </a:xfrm>
          <a:prstGeom prst="rect">
            <a:avLst/>
          </a:prstGeom>
          <a:solidFill>
            <a:srgbClr val="1A5C8C"/>
          </a:solidFill>
        </p:spPr>
        <p:txBody>
          <a:bodyPr wrap="square">
            <a:spAutoFit/>
          </a:bodyPr>
          <a:lstStyle/>
          <a:p>
            <a:pPr algn="ctr"/>
            <a:r>
              <a:rPr sz="1300" b="1">
                <a:solidFill>
                  <a:srgbClr val="FFFFFF"/>
                </a:solidFill>
              </a:rPr>
              <a:t>③  Unlock DEK
via KMS</a:t>
            </a:r>
          </a:p>
        </p:txBody>
      </p:sp>
      <p:sp>
        <p:nvSpPr>
          <p:cNvPr id="13" name="TextBox 12"/>
          <p:cNvSpPr txBox="1"/>
          <p:nvPr/>
        </p:nvSpPr>
        <p:spPr>
          <a:xfrm>
            <a:off x="4754879" y="1737360"/>
            <a:ext cx="1920239" cy="960120"/>
          </a:xfrm>
          <a:prstGeom prst="rect">
            <a:avLst/>
          </a:prstGeom>
          <a:noFill/>
        </p:spPr>
        <p:txBody>
          <a:bodyPr wrap="square">
            <a:spAutoFit/>
          </a:bodyPr>
          <a:lstStyle/>
          <a:p>
            <a:pPr algn="l"/>
            <a:r>
              <a:rPr sz="1200" b="0">
                <a:solidFill>
                  <a:srgbClr val="55657A"/>
                </a:solidFill>
              </a:rPr>
              <a:t>Locked DEK sent to
AWS KMS. KMS checks
authorisation, unlocks it.</a:t>
            </a:r>
          </a:p>
        </p:txBody>
      </p:sp>
      <p:sp>
        <p:nvSpPr>
          <p:cNvPr id="14" name="TextBox 13"/>
          <p:cNvSpPr txBox="1"/>
          <p:nvPr/>
        </p:nvSpPr>
        <p:spPr>
          <a:xfrm>
            <a:off x="4663440" y="2788920"/>
            <a:ext cx="2103120" cy="777240"/>
          </a:xfrm>
          <a:prstGeom prst="rect">
            <a:avLst/>
          </a:prstGeom>
          <a:solidFill>
            <a:srgbClr val="E8EEF8"/>
          </a:solidFill>
        </p:spPr>
        <p:txBody>
          <a:bodyPr wrap="square">
            <a:spAutoFit/>
          </a:bodyPr>
          <a:lstStyle/>
          <a:p>
            <a:pPr algn="ctr"/>
            <a:r>
              <a:rPr sz="1100" b="0">
                <a:solidFill>
                  <a:srgbClr val="1A5C8C"/>
                </a:solidFill>
              </a:rPr>
              <a:t>KMS denies if caller
lacks permission or
key is disabled.</a:t>
            </a:r>
          </a:p>
        </p:txBody>
      </p:sp>
      <p:sp>
        <p:nvSpPr>
          <p:cNvPr id="15" name="TextBox 14"/>
          <p:cNvSpPr txBox="1"/>
          <p:nvPr/>
        </p:nvSpPr>
        <p:spPr>
          <a:xfrm>
            <a:off x="6775703" y="1371600"/>
            <a:ext cx="109728" cy="320040"/>
          </a:xfrm>
          <a:prstGeom prst="rect">
            <a:avLst/>
          </a:prstGeom>
          <a:noFill/>
        </p:spPr>
        <p:txBody>
          <a:bodyPr wrap="square">
            <a:spAutoFit/>
          </a:bodyPr>
          <a:lstStyle/>
          <a:p>
            <a:pPr algn="ctr"/>
            <a:r>
              <a:rPr sz="1400" b="0">
                <a:solidFill>
                  <a:srgbClr val="008C8C"/>
                </a:solidFill>
              </a:rPr>
              <a:t>▶</a:t>
            </a:r>
          </a:p>
        </p:txBody>
      </p:sp>
      <p:sp>
        <p:nvSpPr>
          <p:cNvPr id="16" name="TextBox 15"/>
          <p:cNvSpPr txBox="1"/>
          <p:nvPr/>
        </p:nvSpPr>
        <p:spPr>
          <a:xfrm>
            <a:off x="6857999" y="1234440"/>
            <a:ext cx="2103120" cy="457200"/>
          </a:xfrm>
          <a:prstGeom prst="rect">
            <a:avLst/>
          </a:prstGeom>
          <a:solidFill>
            <a:srgbClr val="5A3A8C"/>
          </a:solidFill>
        </p:spPr>
        <p:txBody>
          <a:bodyPr wrap="square">
            <a:spAutoFit/>
          </a:bodyPr>
          <a:lstStyle/>
          <a:p>
            <a:pPr algn="ctr"/>
            <a:r>
              <a:rPr sz="1300" b="1">
                <a:solidFill>
                  <a:srgbClr val="FFFFFF"/>
                </a:solidFill>
              </a:rPr>
              <a:t>④  Decrypt card</a:t>
            </a:r>
          </a:p>
        </p:txBody>
      </p:sp>
      <p:sp>
        <p:nvSpPr>
          <p:cNvPr id="17" name="TextBox 16"/>
          <p:cNvSpPr txBox="1"/>
          <p:nvPr/>
        </p:nvSpPr>
        <p:spPr>
          <a:xfrm>
            <a:off x="6949439" y="1737360"/>
            <a:ext cx="1920239" cy="960120"/>
          </a:xfrm>
          <a:prstGeom prst="rect">
            <a:avLst/>
          </a:prstGeom>
          <a:noFill/>
        </p:spPr>
        <p:txBody>
          <a:bodyPr wrap="square">
            <a:spAutoFit/>
          </a:bodyPr>
          <a:lstStyle/>
          <a:p>
            <a:pPr algn="l"/>
            <a:r>
              <a:rPr sz="1200" b="0">
                <a:solidFill>
                  <a:srgbClr val="55657A"/>
                </a:solidFill>
              </a:rPr>
              <a:t>DEK used to decrypt
the encrypted PAN.
Original card recovered.</a:t>
            </a:r>
          </a:p>
        </p:txBody>
      </p:sp>
      <p:sp>
        <p:nvSpPr>
          <p:cNvPr id="18" name="TextBox 17"/>
          <p:cNvSpPr txBox="1"/>
          <p:nvPr/>
        </p:nvSpPr>
        <p:spPr>
          <a:xfrm>
            <a:off x="6857999" y="2788920"/>
            <a:ext cx="2103120" cy="777240"/>
          </a:xfrm>
          <a:prstGeom prst="rect">
            <a:avLst/>
          </a:prstGeom>
          <a:solidFill>
            <a:srgbClr val="E8EEF8"/>
          </a:solidFill>
        </p:spPr>
        <p:txBody>
          <a:bodyPr wrap="square">
            <a:spAutoFit/>
          </a:bodyPr>
          <a:lstStyle/>
          <a:p>
            <a:pPr algn="ctr"/>
            <a:r>
              <a:rPr sz="1100" b="0">
                <a:solidFill>
                  <a:srgbClr val="1A5C8C"/>
                </a:solidFill>
              </a:rPr>
              <a:t>DEK lives in memory
for &lt; 1 millisecond.
Zeroed immediately after.</a:t>
            </a:r>
          </a:p>
        </p:txBody>
      </p:sp>
      <p:sp>
        <p:nvSpPr>
          <p:cNvPr id="19" name="TextBox 18"/>
          <p:cNvSpPr txBox="1"/>
          <p:nvPr/>
        </p:nvSpPr>
        <p:spPr>
          <a:xfrm>
            <a:off x="8970263" y="1371600"/>
            <a:ext cx="109728" cy="320040"/>
          </a:xfrm>
          <a:prstGeom prst="rect">
            <a:avLst/>
          </a:prstGeom>
          <a:noFill/>
        </p:spPr>
        <p:txBody>
          <a:bodyPr wrap="square">
            <a:spAutoFit/>
          </a:bodyPr>
          <a:lstStyle/>
          <a:p>
            <a:pPr algn="ctr"/>
            <a:r>
              <a:rPr sz="1400" b="0">
                <a:solidFill>
                  <a:srgbClr val="008C8C"/>
                </a:solidFill>
              </a:rPr>
              <a:t>▶</a:t>
            </a:r>
          </a:p>
        </p:txBody>
      </p:sp>
      <p:sp>
        <p:nvSpPr>
          <p:cNvPr id="20" name="TextBox 19"/>
          <p:cNvSpPr txBox="1"/>
          <p:nvPr/>
        </p:nvSpPr>
        <p:spPr>
          <a:xfrm>
            <a:off x="9052560" y="1234440"/>
            <a:ext cx="2103120" cy="457200"/>
          </a:xfrm>
          <a:prstGeom prst="rect">
            <a:avLst/>
          </a:prstGeom>
          <a:solidFill>
            <a:srgbClr val="1A8C4E"/>
          </a:solidFill>
        </p:spPr>
        <p:txBody>
          <a:bodyPr wrap="square">
            <a:spAutoFit/>
          </a:bodyPr>
          <a:lstStyle/>
          <a:p>
            <a:pPr algn="ctr"/>
            <a:r>
              <a:rPr sz="1300" b="1">
                <a:solidFill>
                  <a:srgbClr val="FFFFFF"/>
                </a:solidFill>
              </a:rPr>
              <a:t>⑤  Return &amp; discard</a:t>
            </a:r>
          </a:p>
        </p:txBody>
      </p:sp>
      <p:sp>
        <p:nvSpPr>
          <p:cNvPr id="21" name="TextBox 20"/>
          <p:cNvSpPr txBox="1"/>
          <p:nvPr/>
        </p:nvSpPr>
        <p:spPr>
          <a:xfrm>
            <a:off x="9144000" y="1737360"/>
            <a:ext cx="1920239" cy="960120"/>
          </a:xfrm>
          <a:prstGeom prst="rect">
            <a:avLst/>
          </a:prstGeom>
          <a:noFill/>
        </p:spPr>
        <p:txBody>
          <a:bodyPr wrap="square">
            <a:spAutoFit/>
          </a:bodyPr>
          <a:lstStyle/>
          <a:p>
            <a:pPr algn="l"/>
            <a:r>
              <a:rPr sz="1200" b="0">
                <a:solidFill>
                  <a:srgbClr val="55657A"/>
                </a:solidFill>
              </a:rPr>
              <a:t>Card returned to
caller over TLS.
DEK erased from memory.</a:t>
            </a:r>
          </a:p>
        </p:txBody>
      </p:sp>
      <p:sp>
        <p:nvSpPr>
          <p:cNvPr id="22" name="TextBox 21"/>
          <p:cNvSpPr txBox="1"/>
          <p:nvPr/>
        </p:nvSpPr>
        <p:spPr>
          <a:xfrm>
            <a:off x="9052560" y="2788920"/>
            <a:ext cx="2103120" cy="777240"/>
          </a:xfrm>
          <a:prstGeom prst="rect">
            <a:avLst/>
          </a:prstGeom>
          <a:solidFill>
            <a:srgbClr val="E8EEF8"/>
          </a:solidFill>
        </p:spPr>
        <p:txBody>
          <a:bodyPr wrap="square">
            <a:spAutoFit/>
          </a:bodyPr>
          <a:lstStyle/>
          <a:p>
            <a:pPr algn="ctr"/>
            <a:r>
              <a:rPr sz="1100" b="0">
                <a:solidFill>
                  <a:srgbClr val="1A5C8C"/>
                </a:solidFill>
              </a:rPr>
              <a:t>Nothing added to
the database.
Pure read operation.</a:t>
            </a:r>
          </a:p>
        </p:txBody>
      </p:sp>
      <p:sp>
        <p:nvSpPr>
          <p:cNvPr id="23" name="TextBox 22"/>
          <p:cNvSpPr txBox="1"/>
          <p:nvPr/>
        </p:nvSpPr>
        <p:spPr>
          <a:xfrm>
            <a:off x="274320" y="3749039"/>
            <a:ext cx="11612880" cy="365760"/>
          </a:xfrm>
          <a:prstGeom prst="rect">
            <a:avLst/>
          </a:prstGeom>
          <a:noFill/>
        </p:spPr>
        <p:txBody>
          <a:bodyPr wrap="square">
            <a:spAutoFit/>
          </a:bodyPr>
          <a:lstStyle/>
          <a:p>
            <a:pPr algn="l"/>
            <a:r>
              <a:rPr sz="1400" b="1">
                <a:solidFill>
                  <a:srgbClr val="0D1B3E"/>
                </a:solidFill>
              </a:rPr>
              <a:t>What makes detokenisation secure:</a:t>
            </a:r>
          </a:p>
        </p:txBody>
      </p:sp>
      <p:sp>
        <p:nvSpPr>
          <p:cNvPr id="24" name="TextBox 23"/>
          <p:cNvSpPr txBox="1"/>
          <p:nvPr/>
        </p:nvSpPr>
        <p:spPr>
          <a:xfrm>
            <a:off x="274320" y="4206240"/>
            <a:ext cx="2240280" cy="502920"/>
          </a:xfrm>
          <a:prstGeom prst="rect">
            <a:avLst/>
          </a:prstGeom>
          <a:solidFill>
            <a:srgbClr val="008C8C"/>
          </a:solidFill>
        </p:spPr>
        <p:txBody>
          <a:bodyPr wrap="square">
            <a:spAutoFit/>
          </a:bodyPr>
          <a:lstStyle/>
          <a:p>
            <a:pPr algn="ctr"/>
            <a:r>
              <a:rPr sz="1300" b="1">
                <a:solidFill>
                  <a:srgbClr val="FFFFFF"/>
                </a:solidFill>
              </a:rPr>
              <a:t>Rate Limited</a:t>
            </a:r>
          </a:p>
        </p:txBody>
      </p:sp>
      <p:sp>
        <p:nvSpPr>
          <p:cNvPr id="25" name="TextBox 24"/>
          <p:cNvSpPr txBox="1"/>
          <p:nvPr/>
        </p:nvSpPr>
        <p:spPr>
          <a:xfrm>
            <a:off x="365760" y="4754880"/>
            <a:ext cx="2103120" cy="1005840"/>
          </a:xfrm>
          <a:prstGeom prst="rect">
            <a:avLst/>
          </a:prstGeom>
          <a:noFill/>
        </p:spPr>
        <p:txBody>
          <a:bodyPr wrap="square">
            <a:spAutoFit/>
          </a:bodyPr>
          <a:lstStyle/>
          <a:p>
            <a:pPr algn="l"/>
            <a:r>
              <a:rPr sz="1100" b="0">
                <a:solidFill>
                  <a:srgbClr val="55657A"/>
                </a:solidFill>
              </a:rPr>
              <a:t>Max 10,000 requests
per minute per caller.
Bulk enumeration is
impossible.</a:t>
            </a:r>
          </a:p>
        </p:txBody>
      </p:sp>
      <p:sp>
        <p:nvSpPr>
          <p:cNvPr id="26" name="TextBox 25"/>
          <p:cNvSpPr txBox="1"/>
          <p:nvPr/>
        </p:nvSpPr>
        <p:spPr>
          <a:xfrm>
            <a:off x="2651760" y="4206240"/>
            <a:ext cx="2240280" cy="502920"/>
          </a:xfrm>
          <a:prstGeom prst="rect">
            <a:avLst/>
          </a:prstGeom>
          <a:solidFill>
            <a:srgbClr val="1A5C8C"/>
          </a:solidFill>
        </p:spPr>
        <p:txBody>
          <a:bodyPr wrap="square">
            <a:spAutoFit/>
          </a:bodyPr>
          <a:lstStyle/>
          <a:p>
            <a:pPr algn="ctr"/>
            <a:r>
              <a:rPr sz="1300" b="1">
                <a:solidFill>
                  <a:srgbClr val="FFFFFF"/>
                </a:solidFill>
              </a:rPr>
              <a:t>KMS Authorised</a:t>
            </a:r>
          </a:p>
        </p:txBody>
      </p:sp>
      <p:sp>
        <p:nvSpPr>
          <p:cNvPr id="27" name="TextBox 26"/>
          <p:cNvSpPr txBox="1"/>
          <p:nvPr/>
        </p:nvSpPr>
        <p:spPr>
          <a:xfrm>
            <a:off x="2743200" y="4754880"/>
            <a:ext cx="2103120" cy="1005840"/>
          </a:xfrm>
          <a:prstGeom prst="rect">
            <a:avLst/>
          </a:prstGeom>
          <a:noFill/>
        </p:spPr>
        <p:txBody>
          <a:bodyPr wrap="square">
            <a:spAutoFit/>
          </a:bodyPr>
          <a:lstStyle/>
          <a:p>
            <a:pPr algn="l"/>
            <a:r>
              <a:rPr sz="1100" b="0">
                <a:solidFill>
                  <a:srgbClr val="55657A"/>
                </a:solidFill>
              </a:rPr>
              <a:t>AWS KMS enforces
who can unlock DEKs.
Unauthorised callers
are rejected.</a:t>
            </a:r>
          </a:p>
        </p:txBody>
      </p:sp>
      <p:sp>
        <p:nvSpPr>
          <p:cNvPr id="28" name="TextBox 27"/>
          <p:cNvSpPr txBox="1"/>
          <p:nvPr/>
        </p:nvSpPr>
        <p:spPr>
          <a:xfrm>
            <a:off x="5029200" y="4206240"/>
            <a:ext cx="2240280" cy="502920"/>
          </a:xfrm>
          <a:prstGeom prst="rect">
            <a:avLst/>
          </a:prstGeom>
          <a:solidFill>
            <a:srgbClr val="5A3A8C"/>
          </a:solidFill>
        </p:spPr>
        <p:txBody>
          <a:bodyPr wrap="square">
            <a:spAutoFit/>
          </a:bodyPr>
          <a:lstStyle/>
          <a:p>
            <a:pPr algn="ctr"/>
            <a:r>
              <a:rPr sz="1300" b="1">
                <a:solidFill>
                  <a:srgbClr val="FFFFFF"/>
                </a:solidFill>
              </a:rPr>
              <a:t>Key Zeroed</a:t>
            </a:r>
          </a:p>
        </p:txBody>
      </p:sp>
      <p:sp>
        <p:nvSpPr>
          <p:cNvPr id="29" name="TextBox 28"/>
          <p:cNvSpPr txBox="1"/>
          <p:nvPr/>
        </p:nvSpPr>
        <p:spPr>
          <a:xfrm>
            <a:off x="5120640" y="4754880"/>
            <a:ext cx="2103120" cy="1005840"/>
          </a:xfrm>
          <a:prstGeom prst="rect">
            <a:avLst/>
          </a:prstGeom>
          <a:noFill/>
        </p:spPr>
        <p:txBody>
          <a:bodyPr wrap="square">
            <a:spAutoFit/>
          </a:bodyPr>
          <a:lstStyle/>
          <a:p>
            <a:pPr algn="l"/>
            <a:r>
              <a:rPr sz="1100" b="0">
                <a:solidFill>
                  <a:srgbClr val="55657A"/>
                </a:solidFill>
              </a:rPr>
              <a:t>DEK exists in memory
for &lt; 1 ms.
No key material
persists after use.</a:t>
            </a:r>
          </a:p>
        </p:txBody>
      </p:sp>
      <p:sp>
        <p:nvSpPr>
          <p:cNvPr id="30" name="TextBox 29"/>
          <p:cNvSpPr txBox="1"/>
          <p:nvPr/>
        </p:nvSpPr>
        <p:spPr>
          <a:xfrm>
            <a:off x="7406640" y="4206240"/>
            <a:ext cx="2240280" cy="502920"/>
          </a:xfrm>
          <a:prstGeom prst="rect">
            <a:avLst/>
          </a:prstGeom>
          <a:solidFill>
            <a:srgbClr val="1A8C4E"/>
          </a:solidFill>
        </p:spPr>
        <p:txBody>
          <a:bodyPr wrap="square">
            <a:spAutoFit/>
          </a:bodyPr>
          <a:lstStyle/>
          <a:p>
            <a:pPr algn="ctr"/>
            <a:r>
              <a:rPr sz="1300" b="1">
                <a:solidFill>
                  <a:srgbClr val="FFFFFF"/>
                </a:solidFill>
              </a:rPr>
              <a:t>Fully Audited</a:t>
            </a:r>
          </a:p>
        </p:txBody>
      </p:sp>
      <p:sp>
        <p:nvSpPr>
          <p:cNvPr id="31" name="TextBox 30"/>
          <p:cNvSpPr txBox="1"/>
          <p:nvPr/>
        </p:nvSpPr>
        <p:spPr>
          <a:xfrm>
            <a:off x="7498080" y="4754880"/>
            <a:ext cx="2103120" cy="1005840"/>
          </a:xfrm>
          <a:prstGeom prst="rect">
            <a:avLst/>
          </a:prstGeom>
          <a:noFill/>
        </p:spPr>
        <p:txBody>
          <a:bodyPr wrap="square">
            <a:spAutoFit/>
          </a:bodyPr>
          <a:lstStyle/>
          <a:p>
            <a:pPr algn="l"/>
            <a:r>
              <a:rPr sz="1100" b="0">
                <a:solidFill>
                  <a:srgbClr val="55657A"/>
                </a:solidFill>
              </a:rPr>
              <a:t>Every access is written
to an append-only
audit log.
Ready for regulators.</a:t>
            </a:r>
          </a:p>
        </p:txBody>
      </p:sp>
      <p:sp>
        <p:nvSpPr>
          <p:cNvPr id="32" name="TextBox 31"/>
          <p:cNvSpPr txBox="1"/>
          <p:nvPr/>
        </p:nvSpPr>
        <p:spPr>
          <a:xfrm>
            <a:off x="9784080" y="4206240"/>
            <a:ext cx="2240280" cy="502920"/>
          </a:xfrm>
          <a:prstGeom prst="rect">
            <a:avLst/>
          </a:prstGeom>
          <a:solidFill>
            <a:srgbClr val="C87F00"/>
          </a:solidFill>
        </p:spPr>
        <p:txBody>
          <a:bodyPr wrap="square">
            <a:spAutoFit/>
          </a:bodyPr>
          <a:lstStyle/>
          <a:p>
            <a:pPr algn="ctr"/>
            <a:r>
              <a:rPr sz="1300" b="1">
                <a:solidFill>
                  <a:srgbClr val="0D1B3E"/>
                </a:solidFill>
              </a:rPr>
              <a:t>Tamper Detected</a:t>
            </a:r>
          </a:p>
        </p:txBody>
      </p:sp>
      <p:sp>
        <p:nvSpPr>
          <p:cNvPr id="33" name="TextBox 32"/>
          <p:cNvSpPr txBox="1"/>
          <p:nvPr/>
        </p:nvSpPr>
        <p:spPr>
          <a:xfrm>
            <a:off x="9875520" y="4754880"/>
            <a:ext cx="2103120" cy="1005840"/>
          </a:xfrm>
          <a:prstGeom prst="rect">
            <a:avLst/>
          </a:prstGeom>
          <a:noFill/>
        </p:spPr>
        <p:txBody>
          <a:bodyPr wrap="square">
            <a:spAutoFit/>
          </a:bodyPr>
          <a:lstStyle/>
          <a:p>
            <a:pPr algn="l"/>
            <a:r>
              <a:rPr sz="1100" b="0">
                <a:solidFill>
                  <a:srgbClr val="55657A"/>
                </a:solidFill>
              </a:rPr>
              <a:t>GCM auth tag on every
ciphertext. Any byte
changed in the database
fails decryption.</a:t>
            </a:r>
          </a:p>
        </p:txBody>
      </p:sp>
      <p:sp>
        <p:nvSpPr>
          <p:cNvPr id="34" name="TextBox 33"/>
          <p:cNvSpPr txBox="1"/>
          <p:nvPr/>
        </p:nvSpPr>
        <p:spPr>
          <a:xfrm>
            <a:off x="274320" y="5897880"/>
            <a:ext cx="11612880" cy="594360"/>
          </a:xfrm>
          <a:prstGeom prst="rect">
            <a:avLst/>
          </a:prstGeom>
          <a:solidFill>
            <a:srgbClr val="0D1B3E"/>
          </a:solidFill>
        </p:spPr>
        <p:txBody>
          <a:bodyPr wrap="square">
            <a:spAutoFit/>
          </a:bodyPr>
          <a:lstStyle/>
          <a:p>
            <a:pPr algn="ctr"/>
            <a:r>
              <a:rPr sz="1400" b="1">
                <a:solidFill>
                  <a:srgbClr val="FFFFFF"/>
                </a:solidFill>
              </a:rPr>
              <a:t>The card number (PAN) only exists in plain text for the fraction of a second needed to return it — never stored, never logged.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08C8C"/>
          </a:solidFill>
        </p:spPr>
        <p:txBody>
          <a:bodyPr wrap="square">
            <a:spAutoFit/>
          </a:bodyPr>
          <a:lstStyle/>
          <a:p/>
        </p:txBody>
      </p:sp>
      <p:sp>
        <p:nvSpPr>
          <p:cNvPr id="3" name="TextBox 2"/>
          <p:cNvSpPr txBox="1"/>
          <p:nvPr/>
        </p:nvSpPr>
        <p:spPr>
          <a:xfrm>
            <a:off x="365760" y="256032"/>
            <a:ext cx="11430000" cy="502920"/>
          </a:xfrm>
          <a:prstGeom prst="rect">
            <a:avLst/>
          </a:prstGeom>
          <a:noFill/>
        </p:spPr>
        <p:txBody>
          <a:bodyPr wrap="square">
            <a:spAutoFit/>
          </a:bodyPr>
          <a:lstStyle/>
          <a:p>
            <a:pPr algn="l"/>
            <a:r>
              <a:rPr sz="2600" b="1">
                <a:solidFill>
                  <a:srgbClr val="FFFFFF"/>
                </a:solidFill>
              </a:rPr>
              <a:t>Keeping Keys Fresh — Automatic Key Rotation</a:t>
            </a:r>
          </a:p>
        </p:txBody>
      </p:sp>
      <p:sp>
        <p:nvSpPr>
          <p:cNvPr id="4" name="TextBox 3"/>
          <p:cNvSpPr txBox="1"/>
          <p:nvPr/>
        </p:nvSpPr>
        <p:spPr>
          <a:xfrm>
            <a:off x="365760" y="777240"/>
            <a:ext cx="11430000" cy="347472"/>
          </a:xfrm>
          <a:prstGeom prst="rect">
            <a:avLst/>
          </a:prstGeom>
          <a:noFill/>
        </p:spPr>
        <p:txBody>
          <a:bodyPr wrap="square">
            <a:spAutoFit/>
          </a:bodyPr>
          <a:lstStyle/>
          <a:p>
            <a:pPr algn="l"/>
            <a:r>
              <a:rPr sz="1400" b="0">
                <a:solidFill>
                  <a:srgbClr val="B0C4DE"/>
                </a:solidFill>
              </a:rPr>
              <a:t>Cryptographic keys are like passwords: they should be changed regularly, even if not compromised.</a:t>
            </a:r>
          </a:p>
        </p:txBody>
      </p:sp>
      <p:sp>
        <p:nvSpPr>
          <p:cNvPr id="5" name="TextBox 4"/>
          <p:cNvSpPr txBox="1"/>
          <p:nvPr/>
        </p:nvSpPr>
        <p:spPr>
          <a:xfrm>
            <a:off x="365760" y="914400"/>
            <a:ext cx="11430000" cy="365760"/>
          </a:xfrm>
          <a:prstGeom prst="rect">
            <a:avLst/>
          </a:prstGeom>
          <a:noFill/>
        </p:spPr>
        <p:txBody>
          <a:bodyPr wrap="square">
            <a:spAutoFit/>
          </a:bodyPr>
          <a:lstStyle/>
          <a:p>
            <a:pPr algn="l"/>
            <a:r>
              <a:rPr sz="1400" b="1">
                <a:solidFill>
                  <a:srgbClr val="FFFFFF"/>
                </a:solidFill>
              </a:rPr>
              <a:t>What happens when we rotate:</a:t>
            </a:r>
          </a:p>
        </p:txBody>
      </p:sp>
      <p:sp>
        <p:nvSpPr>
          <p:cNvPr id="6" name="TextBox 5"/>
          <p:cNvSpPr txBox="1"/>
          <p:nvPr/>
        </p:nvSpPr>
        <p:spPr>
          <a:xfrm>
            <a:off x="457200" y="1371600"/>
            <a:ext cx="2560320" cy="822960"/>
          </a:xfrm>
          <a:prstGeom prst="rect">
            <a:avLst/>
          </a:prstGeom>
          <a:solidFill>
            <a:srgbClr val="008C8C"/>
          </a:solidFill>
        </p:spPr>
        <p:txBody>
          <a:bodyPr wrap="square">
            <a:spAutoFit/>
          </a:bodyPr>
          <a:lstStyle/>
          <a:p>
            <a:pPr algn="ctr"/>
            <a:r>
              <a:rPr sz="1300" b="1">
                <a:solidFill>
                  <a:srgbClr val="FFFFFF"/>
                </a:solidFill>
              </a:rPr>
              <a:t>①  New KEK
created in KMS</a:t>
            </a:r>
          </a:p>
        </p:txBody>
      </p:sp>
      <p:sp>
        <p:nvSpPr>
          <p:cNvPr id="7" name="TextBox 6"/>
          <p:cNvSpPr txBox="1"/>
          <p:nvPr/>
        </p:nvSpPr>
        <p:spPr>
          <a:xfrm>
            <a:off x="548640" y="2286000"/>
            <a:ext cx="2377440" cy="685800"/>
          </a:xfrm>
          <a:prstGeom prst="rect">
            <a:avLst/>
          </a:prstGeom>
          <a:noFill/>
        </p:spPr>
        <p:txBody>
          <a:bodyPr wrap="square">
            <a:spAutoFit/>
          </a:bodyPr>
          <a:lstStyle/>
          <a:p>
            <a:pPr algn="l"/>
            <a:r>
              <a:rPr sz="1200" b="0">
                <a:solidFill>
                  <a:srgbClr val="B0C4DE"/>
                </a:solidFill>
              </a:rPr>
              <a:t>AWS KMS generates
a new master key</a:t>
            </a:r>
          </a:p>
        </p:txBody>
      </p:sp>
      <p:sp>
        <p:nvSpPr>
          <p:cNvPr id="8" name="TextBox 7"/>
          <p:cNvSpPr txBox="1"/>
          <p:nvPr/>
        </p:nvSpPr>
        <p:spPr>
          <a:xfrm>
            <a:off x="3035808" y="1691640"/>
            <a:ext cx="274320" cy="365760"/>
          </a:xfrm>
          <a:prstGeom prst="rect">
            <a:avLst/>
          </a:prstGeom>
          <a:noFill/>
        </p:spPr>
        <p:txBody>
          <a:bodyPr wrap="square">
            <a:spAutoFit/>
          </a:bodyPr>
          <a:lstStyle/>
          <a:p>
            <a:pPr algn="ctr"/>
            <a:r>
              <a:rPr sz="1600" b="0">
                <a:solidFill>
                  <a:srgbClr val="008C8C"/>
                </a:solidFill>
              </a:rPr>
              <a:t>▶</a:t>
            </a:r>
          </a:p>
        </p:txBody>
      </p:sp>
      <p:sp>
        <p:nvSpPr>
          <p:cNvPr id="9" name="TextBox 8"/>
          <p:cNvSpPr txBox="1"/>
          <p:nvPr/>
        </p:nvSpPr>
        <p:spPr>
          <a:xfrm>
            <a:off x="3291840" y="1371600"/>
            <a:ext cx="2560320" cy="822960"/>
          </a:xfrm>
          <a:prstGeom prst="rect">
            <a:avLst/>
          </a:prstGeom>
          <a:solidFill>
            <a:srgbClr val="5A3A8C"/>
          </a:solidFill>
        </p:spPr>
        <p:txBody>
          <a:bodyPr wrap="square">
            <a:spAutoFit/>
          </a:bodyPr>
          <a:lstStyle/>
          <a:p>
            <a:pPr algn="ctr"/>
            <a:r>
              <a:rPr sz="1300" b="1">
                <a:solidFill>
                  <a:srgbClr val="FFFFFF"/>
                </a:solidFill>
              </a:rPr>
              <a:t>②  DEKs re-locked</a:t>
            </a:r>
          </a:p>
        </p:txBody>
      </p:sp>
      <p:sp>
        <p:nvSpPr>
          <p:cNvPr id="10" name="TextBox 9"/>
          <p:cNvSpPr txBox="1"/>
          <p:nvPr/>
        </p:nvSpPr>
        <p:spPr>
          <a:xfrm>
            <a:off x="3383280" y="2286000"/>
            <a:ext cx="2377440" cy="685800"/>
          </a:xfrm>
          <a:prstGeom prst="rect">
            <a:avLst/>
          </a:prstGeom>
          <a:noFill/>
        </p:spPr>
        <p:txBody>
          <a:bodyPr wrap="square">
            <a:spAutoFit/>
          </a:bodyPr>
          <a:lstStyle/>
          <a:p>
            <a:pPr algn="l"/>
            <a:r>
              <a:rPr sz="1200" b="0">
                <a:solidFill>
                  <a:srgbClr val="B0C4DE"/>
                </a:solidFill>
              </a:rPr>
              <a:t>Every card's padlock
key re-locked under
the new master key</a:t>
            </a:r>
          </a:p>
        </p:txBody>
      </p:sp>
      <p:sp>
        <p:nvSpPr>
          <p:cNvPr id="11" name="TextBox 10"/>
          <p:cNvSpPr txBox="1"/>
          <p:nvPr/>
        </p:nvSpPr>
        <p:spPr>
          <a:xfrm>
            <a:off x="5870448" y="1691640"/>
            <a:ext cx="274320" cy="365760"/>
          </a:xfrm>
          <a:prstGeom prst="rect">
            <a:avLst/>
          </a:prstGeom>
          <a:noFill/>
        </p:spPr>
        <p:txBody>
          <a:bodyPr wrap="square">
            <a:spAutoFit/>
          </a:bodyPr>
          <a:lstStyle/>
          <a:p>
            <a:pPr algn="ctr"/>
            <a:r>
              <a:rPr sz="1600" b="0">
                <a:solidFill>
                  <a:srgbClr val="008C8C"/>
                </a:solidFill>
              </a:rPr>
              <a:t>▶</a:t>
            </a:r>
          </a:p>
        </p:txBody>
      </p:sp>
      <p:sp>
        <p:nvSpPr>
          <p:cNvPr id="12" name="TextBox 11"/>
          <p:cNvSpPr txBox="1"/>
          <p:nvPr/>
        </p:nvSpPr>
        <p:spPr>
          <a:xfrm>
            <a:off x="6126480" y="1371600"/>
            <a:ext cx="2560320" cy="822960"/>
          </a:xfrm>
          <a:prstGeom prst="rect">
            <a:avLst/>
          </a:prstGeom>
          <a:solidFill>
            <a:srgbClr val="1A8C4E"/>
          </a:solidFill>
        </p:spPr>
        <p:txBody>
          <a:bodyPr wrap="square">
            <a:spAutoFit/>
          </a:bodyPr>
          <a:lstStyle/>
          <a:p>
            <a:pPr algn="ctr"/>
            <a:r>
              <a:rPr sz="1300" b="1">
                <a:solidFill>
                  <a:srgbClr val="FFFFFF"/>
                </a:solidFill>
              </a:rPr>
              <a:t>③  Old KEK
retired</a:t>
            </a:r>
          </a:p>
        </p:txBody>
      </p:sp>
      <p:sp>
        <p:nvSpPr>
          <p:cNvPr id="13" name="TextBox 12"/>
          <p:cNvSpPr txBox="1"/>
          <p:nvPr/>
        </p:nvSpPr>
        <p:spPr>
          <a:xfrm>
            <a:off x="6217920" y="2286000"/>
            <a:ext cx="2377440" cy="685800"/>
          </a:xfrm>
          <a:prstGeom prst="rect">
            <a:avLst/>
          </a:prstGeom>
          <a:noFill/>
        </p:spPr>
        <p:txBody>
          <a:bodyPr wrap="square">
            <a:spAutoFit/>
          </a:bodyPr>
          <a:lstStyle/>
          <a:p>
            <a:pPr algn="l"/>
            <a:r>
              <a:rPr sz="1200" b="0">
                <a:solidFill>
                  <a:srgbClr val="B0C4DE"/>
                </a:solidFill>
              </a:rPr>
              <a:t>Old master key
marked retired.
No new DEKs use it.</a:t>
            </a:r>
          </a:p>
        </p:txBody>
      </p:sp>
      <p:sp>
        <p:nvSpPr>
          <p:cNvPr id="14" name="TextBox 13"/>
          <p:cNvSpPr txBox="1"/>
          <p:nvPr/>
        </p:nvSpPr>
        <p:spPr>
          <a:xfrm>
            <a:off x="8705088" y="1691640"/>
            <a:ext cx="274320" cy="365760"/>
          </a:xfrm>
          <a:prstGeom prst="rect">
            <a:avLst/>
          </a:prstGeom>
          <a:noFill/>
        </p:spPr>
        <p:txBody>
          <a:bodyPr wrap="square">
            <a:spAutoFit/>
          </a:bodyPr>
          <a:lstStyle/>
          <a:p>
            <a:pPr algn="ctr"/>
            <a:r>
              <a:rPr sz="1600" b="0">
                <a:solidFill>
                  <a:srgbClr val="008C8C"/>
                </a:solidFill>
              </a:rPr>
              <a:t>▶</a:t>
            </a:r>
          </a:p>
        </p:txBody>
      </p:sp>
      <p:sp>
        <p:nvSpPr>
          <p:cNvPr id="15" name="TextBox 14"/>
          <p:cNvSpPr txBox="1"/>
          <p:nvPr/>
        </p:nvSpPr>
        <p:spPr>
          <a:xfrm>
            <a:off x="8961120" y="1371600"/>
            <a:ext cx="2560320" cy="822960"/>
          </a:xfrm>
          <a:prstGeom prst="rect">
            <a:avLst/>
          </a:prstGeom>
          <a:solidFill>
            <a:srgbClr val="1A5C8C"/>
          </a:solidFill>
        </p:spPr>
        <p:txBody>
          <a:bodyPr wrap="square">
            <a:spAutoFit/>
          </a:bodyPr>
          <a:lstStyle/>
          <a:p>
            <a:pPr algn="ctr"/>
            <a:r>
              <a:rPr sz="1300" b="1">
                <a:solidFill>
                  <a:srgbClr val="FFFFFF"/>
                </a:solidFill>
              </a:rPr>
              <a:t>④  Cards unchanged</a:t>
            </a:r>
          </a:p>
        </p:txBody>
      </p:sp>
      <p:sp>
        <p:nvSpPr>
          <p:cNvPr id="16" name="TextBox 15"/>
          <p:cNvSpPr txBox="1"/>
          <p:nvPr/>
        </p:nvSpPr>
        <p:spPr>
          <a:xfrm>
            <a:off x="9052560" y="2286000"/>
            <a:ext cx="2377440" cy="685800"/>
          </a:xfrm>
          <a:prstGeom prst="rect">
            <a:avLst/>
          </a:prstGeom>
          <a:noFill/>
        </p:spPr>
        <p:txBody>
          <a:bodyPr wrap="square">
            <a:spAutoFit/>
          </a:bodyPr>
          <a:lstStyle/>
          <a:p>
            <a:pPr algn="l"/>
            <a:r>
              <a:rPr sz="1200" b="0">
                <a:solidFill>
                  <a:srgbClr val="B0C4DE"/>
                </a:solidFill>
              </a:rPr>
              <a:t>Encrypted card data
unchanged.
No decryption needed.</a:t>
            </a:r>
          </a:p>
        </p:txBody>
      </p:sp>
      <p:sp>
        <p:nvSpPr>
          <p:cNvPr id="17" name="TextBox 16"/>
          <p:cNvSpPr txBox="1"/>
          <p:nvPr/>
        </p:nvSpPr>
        <p:spPr>
          <a:xfrm>
            <a:off x="365760" y="3108960"/>
            <a:ext cx="11430000" cy="502920"/>
          </a:xfrm>
          <a:prstGeom prst="rect">
            <a:avLst/>
          </a:prstGeom>
          <a:solidFill>
            <a:srgbClr val="008C8C"/>
          </a:solidFill>
        </p:spPr>
        <p:txBody>
          <a:bodyPr wrap="square">
            <a:spAutoFit/>
          </a:bodyPr>
          <a:lstStyle/>
          <a:p>
            <a:pPr algn="ctr"/>
            <a:r>
              <a:rPr sz="1400" b="1">
                <a:solidFill>
                  <a:srgbClr val="FFFFFF"/>
                </a:solidFill>
              </a:rPr>
              <a:t>Zero downtime. Merchants keep using the same tokens. Nothing visible changes — only the locks behind the scenes.</a:t>
            </a:r>
          </a:p>
        </p:txBody>
      </p:sp>
      <p:sp>
        <p:nvSpPr>
          <p:cNvPr id="18" name="TextBox 17"/>
          <p:cNvSpPr txBox="1"/>
          <p:nvPr/>
        </p:nvSpPr>
        <p:spPr>
          <a:xfrm>
            <a:off x="365760" y="3794760"/>
            <a:ext cx="5577840" cy="548640"/>
          </a:xfrm>
          <a:prstGeom prst="rect">
            <a:avLst/>
          </a:prstGeom>
          <a:solidFill>
            <a:srgbClr val="1A5C8C"/>
          </a:solidFill>
        </p:spPr>
        <p:txBody>
          <a:bodyPr wrap="square">
            <a:spAutoFit/>
          </a:bodyPr>
          <a:lstStyle/>
          <a:p>
            <a:pPr algn="ctr"/>
            <a:r>
              <a:rPr sz="1400" b="1">
                <a:solidFill>
                  <a:srgbClr val="FFFFFF"/>
                </a:solidFill>
              </a:rPr>
              <a:t>Scheduled Rotation  (every 12 months)</a:t>
            </a:r>
          </a:p>
        </p:txBody>
      </p:sp>
      <p:sp>
        <p:nvSpPr>
          <p:cNvPr id="19" name="TextBox 18"/>
          <p:cNvSpPr txBox="1"/>
          <p:nvPr/>
        </p:nvSpPr>
        <p:spPr>
          <a:xfrm>
            <a:off x="548640" y="4480560"/>
            <a:ext cx="5303520" cy="457200"/>
          </a:xfrm>
          <a:prstGeom prst="rect">
            <a:avLst/>
          </a:prstGeom>
          <a:noFill/>
        </p:spPr>
        <p:txBody>
          <a:bodyPr wrap="square">
            <a:spAutoFit/>
          </a:bodyPr>
          <a:lstStyle/>
          <a:p>
            <a:pPr algn="l"/>
            <a:r>
              <a:rPr sz="1300" b="0">
                <a:solidFill>
                  <a:srgbClr val="B0C4DE"/>
                </a:solidFill>
              </a:rPr>
              <a:t>• Triggered automatically when a key
approaches its compliance age limit</a:t>
            </a:r>
          </a:p>
        </p:txBody>
      </p:sp>
      <p:sp>
        <p:nvSpPr>
          <p:cNvPr id="20" name="TextBox 19"/>
          <p:cNvSpPr txBox="1"/>
          <p:nvPr/>
        </p:nvSpPr>
        <p:spPr>
          <a:xfrm>
            <a:off x="548640" y="4983480"/>
            <a:ext cx="5303520" cy="457200"/>
          </a:xfrm>
          <a:prstGeom prst="rect">
            <a:avLst/>
          </a:prstGeom>
          <a:noFill/>
        </p:spPr>
        <p:txBody>
          <a:bodyPr wrap="square">
            <a:spAutoFit/>
          </a:bodyPr>
          <a:lstStyle/>
          <a:p>
            <a:pPr algn="l"/>
            <a:r>
              <a:rPr sz="1300" b="0">
                <a:solidFill>
                  <a:srgbClr val="B0C4DE"/>
                </a:solidFill>
              </a:rPr>
              <a:t>• Runs overnight — no user impact</a:t>
            </a:r>
          </a:p>
        </p:txBody>
      </p:sp>
      <p:sp>
        <p:nvSpPr>
          <p:cNvPr id="21" name="TextBox 20"/>
          <p:cNvSpPr txBox="1"/>
          <p:nvPr/>
        </p:nvSpPr>
        <p:spPr>
          <a:xfrm>
            <a:off x="548640" y="5486400"/>
            <a:ext cx="5303520" cy="457200"/>
          </a:xfrm>
          <a:prstGeom prst="rect">
            <a:avLst/>
          </a:prstGeom>
          <a:noFill/>
        </p:spPr>
        <p:txBody>
          <a:bodyPr wrap="square">
            <a:spAutoFit/>
          </a:bodyPr>
          <a:lstStyle/>
          <a:p>
            <a:pPr algn="l"/>
            <a:r>
              <a:rPr sz="1300" b="0">
                <a:solidFill>
                  <a:srgbClr val="B0C4DE"/>
                </a:solidFill>
              </a:rPr>
              <a:t>• Required by PCI-DSS</a:t>
            </a:r>
          </a:p>
        </p:txBody>
      </p:sp>
      <p:sp>
        <p:nvSpPr>
          <p:cNvPr id="22" name="TextBox 21"/>
          <p:cNvSpPr txBox="1"/>
          <p:nvPr/>
        </p:nvSpPr>
        <p:spPr>
          <a:xfrm>
            <a:off x="6309360" y="3794760"/>
            <a:ext cx="5577840" cy="548640"/>
          </a:xfrm>
          <a:prstGeom prst="rect">
            <a:avLst/>
          </a:prstGeom>
          <a:solidFill>
            <a:srgbClr val="8C1A1A"/>
          </a:solidFill>
        </p:spPr>
        <p:txBody>
          <a:bodyPr wrap="square">
            <a:spAutoFit/>
          </a:bodyPr>
          <a:lstStyle/>
          <a:p>
            <a:pPr algn="ctr"/>
            <a:r>
              <a:rPr sz="1400" b="1">
                <a:solidFill>
                  <a:srgbClr val="FFFFFF"/>
                </a:solidFill>
              </a:rPr>
              <a:t>Emergency Rotation  (within minutes)</a:t>
            </a:r>
          </a:p>
        </p:txBody>
      </p:sp>
      <p:sp>
        <p:nvSpPr>
          <p:cNvPr id="23" name="TextBox 22"/>
          <p:cNvSpPr txBox="1"/>
          <p:nvPr/>
        </p:nvSpPr>
        <p:spPr>
          <a:xfrm>
            <a:off x="6492240" y="4480560"/>
            <a:ext cx="5303520" cy="457200"/>
          </a:xfrm>
          <a:prstGeom prst="rect">
            <a:avLst/>
          </a:prstGeom>
          <a:noFill/>
        </p:spPr>
        <p:txBody>
          <a:bodyPr wrap="square">
            <a:spAutoFit/>
          </a:bodyPr>
          <a:lstStyle/>
          <a:p>
            <a:pPr algn="l"/>
            <a:r>
              <a:rPr sz="1300" b="0">
                <a:solidFill>
                  <a:srgbClr val="B0C4DE"/>
                </a:solidFill>
              </a:rPr>
              <a:t>• Triggered immediately if a key is
suspected compromised</a:t>
            </a:r>
          </a:p>
        </p:txBody>
      </p:sp>
      <p:sp>
        <p:nvSpPr>
          <p:cNvPr id="24" name="TextBox 23"/>
          <p:cNvSpPr txBox="1"/>
          <p:nvPr/>
        </p:nvSpPr>
        <p:spPr>
          <a:xfrm>
            <a:off x="6492240" y="4983480"/>
            <a:ext cx="5303520" cy="457200"/>
          </a:xfrm>
          <a:prstGeom prst="rect">
            <a:avLst/>
          </a:prstGeom>
          <a:noFill/>
        </p:spPr>
        <p:txBody>
          <a:bodyPr wrap="square">
            <a:spAutoFit/>
          </a:bodyPr>
          <a:lstStyle/>
          <a:p>
            <a:pPr algn="l"/>
            <a:r>
              <a:rPr sz="1300" b="0">
                <a:solidFill>
                  <a:srgbClr val="B0C4DE"/>
                </a:solidFill>
              </a:rPr>
              <a:t>• Old key blocked — all old tokens
still detokenisable under the new key</a:t>
            </a:r>
          </a:p>
        </p:txBody>
      </p:sp>
      <p:sp>
        <p:nvSpPr>
          <p:cNvPr id="25" name="TextBox 24"/>
          <p:cNvSpPr txBox="1"/>
          <p:nvPr/>
        </p:nvSpPr>
        <p:spPr>
          <a:xfrm>
            <a:off x="6492240" y="5486400"/>
            <a:ext cx="5303520" cy="457200"/>
          </a:xfrm>
          <a:prstGeom prst="rect">
            <a:avLst/>
          </a:prstGeom>
          <a:noFill/>
        </p:spPr>
        <p:txBody>
          <a:bodyPr wrap="square">
            <a:spAutoFit/>
          </a:bodyPr>
          <a:lstStyle/>
          <a:p>
            <a:pPr algn="l"/>
            <a:r>
              <a:rPr sz="1300" b="0">
                <a:solidFill>
                  <a:srgbClr val="B0C4DE"/>
                </a:solidFill>
              </a:rPr>
              <a:t>• Full audit trail created automatically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8C8C"/>
        </a:solidFill>
        <a:effectLst/>
      </p:bgPr>
    </p:bg>
    <p:spTree>
      <p:nvGrpSpPr>
        <p:cNvPr id="1" name=""/>
        <p:cNvGrpSpPr/>
        <p:nvPr/>
      </p:nvGrpSpPr>
      <p:grpSpPr/>
      <p:sp>
        <p:nvSpPr>
          <p:cNvPr id="2" name="TextBox 1"/>
          <p:cNvSpPr txBox="1"/>
          <p:nvPr/>
        </p:nvSpPr>
        <p:spPr>
          <a:xfrm>
            <a:off x="0" y="0"/>
            <a:ext cx="12188952" cy="164592"/>
          </a:xfrm>
          <a:prstGeom prst="rect">
            <a:avLst/>
          </a:prstGeom>
          <a:solidFill>
            <a:srgbClr val="0D1B3E"/>
          </a:solidFill>
        </p:spPr>
        <p:txBody>
          <a:bodyPr wrap="square">
            <a:spAutoFit/>
          </a:bodyPr>
          <a:lstStyle/>
          <a:p/>
        </p:txBody>
      </p:sp>
      <p:sp>
        <p:nvSpPr>
          <p:cNvPr id="3" name="TextBox 2"/>
          <p:cNvSpPr txBox="1"/>
          <p:nvPr/>
        </p:nvSpPr>
        <p:spPr>
          <a:xfrm>
            <a:off x="0" y="6693408"/>
            <a:ext cx="12188952" cy="164592"/>
          </a:xfrm>
          <a:prstGeom prst="rect">
            <a:avLst/>
          </a:prstGeom>
          <a:solidFill>
            <a:srgbClr val="0D1B3E"/>
          </a:solidFill>
        </p:spPr>
        <p:txBody>
          <a:bodyPr wrap="square">
            <a:spAutoFit/>
          </a:bodyPr>
          <a:lstStyle/>
          <a:p/>
        </p:txBody>
      </p:sp>
      <p:sp>
        <p:nvSpPr>
          <p:cNvPr id="4" name="TextBox 3"/>
          <p:cNvSpPr txBox="1"/>
          <p:nvPr/>
        </p:nvSpPr>
        <p:spPr>
          <a:xfrm>
            <a:off x="457200" y="274320"/>
            <a:ext cx="11247120" cy="594360"/>
          </a:xfrm>
          <a:prstGeom prst="rect">
            <a:avLst/>
          </a:prstGeom>
          <a:noFill/>
        </p:spPr>
        <p:txBody>
          <a:bodyPr wrap="square">
            <a:spAutoFit/>
          </a:bodyPr>
          <a:lstStyle/>
          <a:p>
            <a:pPr algn="ctr"/>
            <a:r>
              <a:rPr sz="3200" b="1">
                <a:solidFill>
                  <a:srgbClr val="FFFFFF"/>
                </a:solidFill>
              </a:rPr>
              <a:t>What This Means for the Business</a:t>
            </a:r>
          </a:p>
        </p:txBody>
      </p:sp>
      <p:sp>
        <p:nvSpPr>
          <p:cNvPr id="5" name="TextBox 4"/>
          <p:cNvSpPr txBox="1"/>
          <p:nvPr/>
        </p:nvSpPr>
        <p:spPr>
          <a:xfrm>
            <a:off x="365760" y="1051560"/>
            <a:ext cx="3566160" cy="548640"/>
          </a:xfrm>
          <a:prstGeom prst="rect">
            <a:avLst/>
          </a:prstGeom>
          <a:solidFill>
            <a:srgbClr val="0D1B3E"/>
          </a:solidFill>
        </p:spPr>
        <p:txBody>
          <a:bodyPr wrap="square">
            <a:spAutoFit/>
          </a:bodyPr>
          <a:lstStyle/>
          <a:p>
            <a:pPr algn="ctr"/>
            <a:r>
              <a:rPr sz="1300" b="1">
                <a:solidFill>
                  <a:srgbClr val="FFFFFF"/>
                </a:solidFill>
              </a:rPr>
              <a:t>🛡  Reduced Risk</a:t>
            </a:r>
          </a:p>
        </p:txBody>
      </p:sp>
      <p:sp>
        <p:nvSpPr>
          <p:cNvPr id="6" name="TextBox 5"/>
          <p:cNvSpPr txBox="1"/>
          <p:nvPr/>
        </p:nvSpPr>
        <p:spPr>
          <a:xfrm>
            <a:off x="502920" y="1645919"/>
            <a:ext cx="3291840" cy="1508760"/>
          </a:xfrm>
          <a:prstGeom prst="rect">
            <a:avLst/>
          </a:prstGeom>
          <a:noFill/>
        </p:spPr>
        <p:txBody>
          <a:bodyPr wrap="square">
            <a:spAutoFit/>
          </a:bodyPr>
          <a:lstStyle/>
          <a:p>
            <a:pPr algn="l"/>
            <a:r>
              <a:rPr sz="1200" b="0">
                <a:solidFill>
                  <a:srgbClr val="FFFFFF"/>
                </a:solidFill>
              </a:rPr>
              <a:t>Card numbers never leave the vault.
A breach of any merchant or payment
system exposes only tokens —
useless to a fraudster.</a:t>
            </a:r>
          </a:p>
        </p:txBody>
      </p:sp>
      <p:sp>
        <p:nvSpPr>
          <p:cNvPr id="7" name="TextBox 6"/>
          <p:cNvSpPr txBox="1"/>
          <p:nvPr/>
        </p:nvSpPr>
        <p:spPr>
          <a:xfrm>
            <a:off x="4251960" y="1051560"/>
            <a:ext cx="3566160" cy="548640"/>
          </a:xfrm>
          <a:prstGeom prst="rect">
            <a:avLst/>
          </a:prstGeom>
          <a:solidFill>
            <a:srgbClr val="1A5C8C"/>
          </a:solidFill>
        </p:spPr>
        <p:txBody>
          <a:bodyPr wrap="square">
            <a:spAutoFit/>
          </a:bodyPr>
          <a:lstStyle/>
          <a:p>
            <a:pPr algn="ctr"/>
            <a:r>
              <a:rPr sz="1300" b="1">
                <a:solidFill>
                  <a:srgbClr val="FFFFFF"/>
                </a:solidFill>
              </a:rPr>
              <a:t>📉  Smaller Compliance Scope</a:t>
            </a:r>
          </a:p>
        </p:txBody>
      </p:sp>
      <p:sp>
        <p:nvSpPr>
          <p:cNvPr id="8" name="TextBox 7"/>
          <p:cNvSpPr txBox="1"/>
          <p:nvPr/>
        </p:nvSpPr>
        <p:spPr>
          <a:xfrm>
            <a:off x="4389120" y="1645919"/>
            <a:ext cx="3291840" cy="1508760"/>
          </a:xfrm>
          <a:prstGeom prst="rect">
            <a:avLst/>
          </a:prstGeom>
          <a:noFill/>
        </p:spPr>
        <p:txBody>
          <a:bodyPr wrap="square">
            <a:spAutoFit/>
          </a:bodyPr>
          <a:lstStyle/>
          <a:p>
            <a:pPr algn="l"/>
            <a:r>
              <a:rPr sz="1200" b="0">
                <a:solidFill>
                  <a:srgbClr val="FFFFFF"/>
                </a:solidFill>
              </a:rPr>
              <a:t>Systems that handle only tokens are
largely out of PCI-DSS card-data scope.
Fewer systems to audit means
lower compliance cost.</a:t>
            </a:r>
          </a:p>
        </p:txBody>
      </p:sp>
      <p:sp>
        <p:nvSpPr>
          <p:cNvPr id="9" name="TextBox 8"/>
          <p:cNvSpPr txBox="1"/>
          <p:nvPr/>
        </p:nvSpPr>
        <p:spPr>
          <a:xfrm>
            <a:off x="8138160" y="1051560"/>
            <a:ext cx="3566160" cy="548640"/>
          </a:xfrm>
          <a:prstGeom prst="rect">
            <a:avLst/>
          </a:prstGeom>
          <a:solidFill>
            <a:srgbClr val="5A3A8C"/>
          </a:solidFill>
        </p:spPr>
        <p:txBody>
          <a:bodyPr wrap="square">
            <a:spAutoFit/>
          </a:bodyPr>
          <a:lstStyle/>
          <a:p>
            <a:pPr algn="ctr"/>
            <a:r>
              <a:rPr sz="1300" b="1">
                <a:solidFill>
                  <a:srgbClr val="FFFFFF"/>
                </a:solidFill>
              </a:rPr>
              <a:t>🔁  No Disruption</a:t>
            </a:r>
          </a:p>
        </p:txBody>
      </p:sp>
      <p:sp>
        <p:nvSpPr>
          <p:cNvPr id="10" name="TextBox 9"/>
          <p:cNvSpPr txBox="1"/>
          <p:nvPr/>
        </p:nvSpPr>
        <p:spPr>
          <a:xfrm>
            <a:off x="8275320" y="1645919"/>
            <a:ext cx="3291840" cy="1508760"/>
          </a:xfrm>
          <a:prstGeom prst="rect">
            <a:avLst/>
          </a:prstGeom>
          <a:noFill/>
        </p:spPr>
        <p:txBody>
          <a:bodyPr wrap="square">
            <a:spAutoFit/>
          </a:bodyPr>
          <a:lstStyle/>
          <a:p>
            <a:pPr algn="l"/>
            <a:r>
              <a:rPr sz="1200" b="0">
                <a:solidFill>
                  <a:srgbClr val="FFFFFF"/>
                </a:solidFill>
              </a:rPr>
              <a:t>Tokens survive key rotations and
card renewals. Merchants update
one record; downstream systems
see no change.</a:t>
            </a:r>
          </a:p>
        </p:txBody>
      </p:sp>
      <p:sp>
        <p:nvSpPr>
          <p:cNvPr id="11" name="TextBox 10"/>
          <p:cNvSpPr txBox="1"/>
          <p:nvPr/>
        </p:nvSpPr>
        <p:spPr>
          <a:xfrm>
            <a:off x="2286000" y="3749039"/>
            <a:ext cx="3566160" cy="548640"/>
          </a:xfrm>
          <a:prstGeom prst="rect">
            <a:avLst/>
          </a:prstGeom>
          <a:solidFill>
            <a:srgbClr val="1A8C4E"/>
          </a:solidFill>
        </p:spPr>
        <p:txBody>
          <a:bodyPr wrap="square">
            <a:spAutoFit/>
          </a:bodyPr>
          <a:lstStyle/>
          <a:p>
            <a:pPr algn="ctr"/>
            <a:r>
              <a:rPr sz="1300" b="1">
                <a:solidFill>
                  <a:srgbClr val="FFFFFF"/>
                </a:solidFill>
              </a:rPr>
              <a:t>📋  Full Audit Trail</a:t>
            </a:r>
          </a:p>
        </p:txBody>
      </p:sp>
      <p:sp>
        <p:nvSpPr>
          <p:cNvPr id="12" name="TextBox 11"/>
          <p:cNvSpPr txBox="1"/>
          <p:nvPr/>
        </p:nvSpPr>
        <p:spPr>
          <a:xfrm>
            <a:off x="2423160" y="4343400"/>
            <a:ext cx="3291840" cy="1508760"/>
          </a:xfrm>
          <a:prstGeom prst="rect">
            <a:avLst/>
          </a:prstGeom>
          <a:noFill/>
        </p:spPr>
        <p:txBody>
          <a:bodyPr wrap="square">
            <a:spAutoFit/>
          </a:bodyPr>
          <a:lstStyle/>
          <a:p>
            <a:pPr algn="l"/>
            <a:r>
              <a:rPr sz="1200" b="0">
                <a:solidFill>
                  <a:srgbClr val="FFFFFF"/>
                </a:solidFill>
              </a:rPr>
              <a:t>Every tokenisation and detokenisation
is logged with who, when, and what.
Ready for a regulatory inspection
at any time.</a:t>
            </a:r>
          </a:p>
        </p:txBody>
      </p:sp>
      <p:sp>
        <p:nvSpPr>
          <p:cNvPr id="13" name="TextBox 12"/>
          <p:cNvSpPr txBox="1"/>
          <p:nvPr/>
        </p:nvSpPr>
        <p:spPr>
          <a:xfrm>
            <a:off x="6172200" y="3749039"/>
            <a:ext cx="3566160" cy="548640"/>
          </a:xfrm>
          <a:prstGeom prst="rect">
            <a:avLst/>
          </a:prstGeom>
          <a:solidFill>
            <a:srgbClr val="C87F00"/>
          </a:solidFill>
        </p:spPr>
        <p:txBody>
          <a:bodyPr wrap="square">
            <a:spAutoFit/>
          </a:bodyPr>
          <a:lstStyle/>
          <a:p>
            <a:pPr algn="ctr"/>
            <a:r>
              <a:rPr sz="1300" b="1">
                <a:solidFill>
                  <a:srgbClr val="0D1B3E"/>
                </a:solidFill>
              </a:rPr>
              <a:t>⚡  Zero Downtime Operations</a:t>
            </a:r>
          </a:p>
        </p:txBody>
      </p:sp>
      <p:sp>
        <p:nvSpPr>
          <p:cNvPr id="14" name="TextBox 13"/>
          <p:cNvSpPr txBox="1"/>
          <p:nvPr/>
        </p:nvSpPr>
        <p:spPr>
          <a:xfrm>
            <a:off x="6309360" y="4343400"/>
            <a:ext cx="3291840" cy="1508760"/>
          </a:xfrm>
          <a:prstGeom prst="rect">
            <a:avLst/>
          </a:prstGeom>
          <a:noFill/>
        </p:spPr>
        <p:txBody>
          <a:bodyPr wrap="square">
            <a:spAutoFit/>
          </a:bodyPr>
          <a:lstStyle/>
          <a:p>
            <a:pPr algn="l"/>
            <a:r>
              <a:rPr sz="1200" b="0">
                <a:solidFill>
                  <a:srgbClr val="FFFFFF"/>
                </a:solidFill>
              </a:rPr>
              <a:t>Key rotation and emergency
re-encryption run automatically
in the background while the payment
system remains fully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