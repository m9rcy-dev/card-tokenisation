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Protecting Card Numbers Without the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30352"/>
            <a:ext cx="11274552" cy="381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85800"/>
            <a:ext cx="539496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5394960" cy="2194560"/>
          </a:xfrm>
          <a:prstGeom prst="rect">
            <a:avLst/>
          </a:prstGeom>
          <a:solidFill>
            <a:srgbClr val="F9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16152"/>
            <a:ext cx="50657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552222"/>
                </a:solidFill>
              </a:rPr>
              <a:t>  Card numbers (PANs) are sensitive — a breach exposes real cardholder data.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2222"/>
                </a:solidFill>
              </a:rPr>
              <a:t>  Merchants need to reference a payment card repeatedly (subscriptions, refunds).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2222"/>
                </a:solidFill>
              </a:rPr>
              <a:t>  Storing the raw card number anywhere creates liability under PCI-DSS.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2222"/>
                </a:solidFill>
              </a:rPr>
              <a:t>  Encryption alone is not enough if all records share the same key.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685800"/>
            <a:ext cx="5486400" cy="347472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70408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What Tokenisation Gives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078992"/>
            <a:ext cx="5486400" cy="2194560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216152"/>
            <a:ext cx="51572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14422"/>
                </a:solidFill>
              </a:rPr>
              <a:t>  A safe, meaningless token replaces the card number everywhere outside the vault.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14422"/>
                </a:solidFill>
              </a:rPr>
              <a:t>  The vault is the only place PANs exist — encrypted at every layer.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14422"/>
                </a:solidFill>
              </a:rPr>
              <a:t>  A breach of merchant systems exposes nothing useful without vault access.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14422"/>
                </a:solidFill>
              </a:rPr>
              <a:t>  Supports refunds, subscriptions, and disputes without re-collecting card data.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14422"/>
                </a:solidFill>
              </a:rPr>
              <a:t>  Meets PCI-DSS scope reduction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11274552" cy="34747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47288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Cost of Security — Designed to be Near-Zero at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22191"/>
            <a:ext cx="11274552" cy="2377440"/>
          </a:xfrm>
          <a:prstGeom prst="rect">
            <a:avLst/>
          </a:prstGeom>
          <a:solidFill>
            <a:srgbClr val="E6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959351"/>
            <a:ext cx="109453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444455"/>
                </a:solidFill>
              </a:rPr>
              <a:t>  AWS KMS is called exactly 2 times at application startup — to load the master keys into secure memory.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444455"/>
                </a:solidFill>
              </a:rPr>
              <a:t>  Every tokenisation and detokenisation after that uses only in-memory cryptography — 0 KMS calls.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444455"/>
                </a:solidFill>
              </a:rPr>
              <a:t>  A key rotation (scheduled or emergency) costs exactly 1 KMS call, regardless of vault size.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444455"/>
                </a:solidFill>
              </a:rPr>
              <a:t>  Scaling from 1,000 to 10,000,000 tokens does not increase KMS costs. KMS costs scale with key events, not token volume.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Card Tokenisation System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Three Layers of Protection — Like a Bank Safe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30352"/>
            <a:ext cx="11274552" cy="381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FF"/>
                </a:solidFill>
              </a:rPr>
              <a:t>Think of it as a bank vault with a layered key system: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256032" cy="15727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024128"/>
            <a:ext cx="10881360" cy="15727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155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</a:rPr>
              <a:t>Layer 1 — AWS KMS Master Key (CMK)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Lives inside AWS's hardware security module (HSM). Never leaves AWS. Think of this as the bank's central vault that even we cannot open directly — we can only ask AWS to use it on our behalf.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256032" cy="1572768"/>
          </a:xfrm>
          <a:prstGeom prst="rect">
            <a:avLst/>
          </a:prstGeom>
          <a:solidFill>
            <a:srgbClr val="5B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743200"/>
            <a:ext cx="10881360" cy="15727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</a:rPr>
              <a:t>Layer 2 — Key Encryption Key (KEK)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A 32-byte key that the application holds in RAM (never on disk). It is unlocked from AWS KMS at startup and used to lock/unlock individual card keys. Analogy: the combination to the safe that holds the house keys. Rotating the KEK re-locks every house key under a new combination — 0 extra KMS calls.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62272"/>
            <a:ext cx="256032" cy="157276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4462272"/>
            <a:ext cx="10881360" cy="15727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537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</a:rPr>
              <a:t>Layer 3 — Data Encryption Key (DEK)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1947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A unique 32-byte key generated fresh for every card number. Each DEK exists in RAM for milliseconds — zeroed after use. Analogy: a house key. One per card. Locked in the safe (encrypted by KEK). If one house key is somehow stolen, only one card is at risk — nothing else.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172200"/>
            <a:ext cx="11274552" cy="347472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190488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Also: HMAC fingerprint — a one-way hash of the card number used only to detect duplicates. Cannot be reversed to recover the card. Protected directly by AWS KMS.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Card Tokenisation System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Tokenisation — Turning a Card Number Into a Safe Token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30352"/>
            <a:ext cx="11274552" cy="381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DFF"/>
                </a:solidFill>
              </a:rPr>
              <a:t>Trigger: merchant sends  POST /api/v1/tokens  with the card number.   0 KMS calls.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228600" cy="658368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" y="987552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241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1  Generate a unique key (DEK)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024128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A fresh 32-byte random key is created just for this card — lives in memory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82496"/>
            <a:ext cx="228600" cy="658368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" y="1682496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190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2  Encrypt the card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19072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AES-256-GCM encrypts the PAN using the DEK. The DEK is zeroed from memory immediately after.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228600" cy="658368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" y="2377440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14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3  Lock the DEK 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14016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The DEK is itself encrypted (wrapped) using the in-memory KEK. The locked DEK is stored, not the original.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72384"/>
            <a:ext cx="228600" cy="6583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" y="3072384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08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4  Fingerprint for duplicate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10896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HMAC-SHA256 creates a one-way hash of the card number. Used to return the same token if this card arrives again.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67328"/>
            <a:ext cx="228600" cy="6583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" y="3767328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039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5  Duplicate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803904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Database lookup: does this fingerprint already exist? If yes — return the existing token immediately (no new row).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62272"/>
            <a:ext cx="228600" cy="65836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2376" y="4462272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988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6  Store in the vault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498848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A new vault row is created: token UUID, encrypted card, locked DEK, fingerprint. The raw card number never touches the database.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57216"/>
            <a:ext cx="228600" cy="658368"/>
          </a:xfrm>
          <a:prstGeom prst="rect">
            <a:avLst/>
          </a:prstGeom>
          <a:solidFill>
            <a:srgbClr val="44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2376" y="5157216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1937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7  Return the token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193792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The caller receives only the token UUID and last-four digits. The card number leaves the application immediately.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Card Tokenisation System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Detokenisation — Recovering the Card Number From a Token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30352"/>
            <a:ext cx="11274552" cy="381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DFF"/>
                </a:solidFill>
              </a:rPr>
              <a:t>Trigger: authorised system sends  GET /api/v1/tokens/{token}.   0 KMS calls.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228600" cy="6583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" y="987552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241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1  Look up the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024128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Database query: find the vault row matching this token UUID. Retrieve encrypted card, locked DEK, and which key version encrypted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82496"/>
            <a:ext cx="228600" cy="6583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" y="1682496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190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2  Find the right key (in memory)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19072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The Key Ring holds all active and rotating KEK versions in RAM. No KMS call needed — the KEK is already there from startup.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228600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" y="2377440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14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3  Safety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14016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If the key was marked COMPROMISED (emergency rotation), access is blocked immediately and an alert is written. No card is returned.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72384"/>
            <a:ext cx="228600" cy="658368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" y="3072384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08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4  Unlock the DEK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10896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AES-256-GCM decrypts the locked DEK using the in-memory KEK. The unlocked DEK exists in RAM for milliseconds.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67328"/>
            <a:ext cx="228600" cy="658368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" y="3767328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039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5  Recover the card number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803904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AES-256-GCM decrypts the encrypted card using the DEK. The authentication tag is verified — any tampering is detected here.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62272"/>
            <a:ext cx="228600" cy="658368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2376" y="4462272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988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6  Zero the DEK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498848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The unlocked DEK bytes are immediately overwritten with zeros and discarded. No sensitive key material lingers.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57216"/>
            <a:ext cx="228600" cy="658368"/>
          </a:xfrm>
          <a:prstGeom prst="rect">
            <a:avLst/>
          </a:prstGeom>
          <a:solidFill>
            <a:srgbClr val="44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2376" y="5157216"/>
            <a:ext cx="10972800" cy="65836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1937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7  Return the card number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193792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</a:rPr>
              <a:t>The caller receives the PAN and last-four digits. The HMAC fingerprint is never consulted — it plays no role in detokenisation.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Card Tokenisation System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Rotation — Changing the Locks Without Closing the Vault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30352"/>
            <a:ext cx="11274552" cy="381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DFF"/>
                </a:solidFill>
              </a:rPr>
              <a:t>Keys are rotated on a schedule or immediately in an emergency. Every rotation costs exactly 1 KMS call. No downtime. No restarting.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5394960" cy="34747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Scheduled KEK Rotation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394960" cy="3657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45920"/>
            <a:ext cx="5065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1  New KEK generated in memory + 1 KMS call to protect it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2  New KEK goes ACTIVE; old KEK moves to ROTATING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3  New tokens immediately use the new key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4  Background job (every 15 min) re-wraps each token's DEK under the new KEK  — 0 KMS calls per token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5  Once all tokens migrated, old KEK is retired from memory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During rotation:  old tokens remain readable (old KEK still in memory)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After rotation:   all tokens on new key; old key gone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HMAC key:  completely unaffected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115568"/>
            <a:ext cx="5394960" cy="347472"/>
          </a:xfrm>
          <a:prstGeom prst="rect">
            <a:avLst/>
          </a:prstGeom>
          <a:solidFill>
            <a:srgbClr val="5B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13385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HMAC Key Rotation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6792" y="1508760"/>
            <a:ext cx="5394960" cy="3657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645920"/>
            <a:ext cx="5065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1  New HMAC secret generated in memory + 1 KMS call to protect it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2  New HMAC goes ACTIVE; old HMAC moves to ROTATING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3  New tokenisations immediately fingerprint with new secret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4  Nightly batch re-hashes all vault fingerprints  — 0 KMS calls per token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   (Each PAN briefly decrypted in memory to re-hash — most sensitive batch)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5  Once all records re-hashed, old HMAC is retired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Detokenisation:  completely unaffected (never reads the fingerprint)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44455"/>
                </a:solidFill>
              </a:rPr>
              <a:t>KEK:  completely unaffected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21808"/>
            <a:ext cx="1127455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340096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Emergency Rotation (KEK suspected compromised)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15000"/>
            <a:ext cx="11274552" cy="914400"/>
          </a:xfrm>
          <a:prstGeom prst="rect">
            <a:avLst/>
          </a:prstGeom>
          <a:solidFill>
            <a:srgbClr val="F9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852160"/>
            <a:ext cx="10945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551111"/>
                </a:solidFill>
              </a:rPr>
              <a:t>  Old KEK immediately marked COMPROMISED (synchronous — happens before the API returns).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551111"/>
                </a:solidFill>
              </a:rPr>
              <a:t>  Any detokenisation attempt on a COMPROMISED key is blocked and audited — no card data returned until migration completes.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551111"/>
                </a:solidFill>
              </a:rPr>
              <a:t>  Background job migrates all affected tokens to the new key at maximum speed.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551111"/>
                </a:solidFill>
              </a:rPr>
              <a:t>  Intentional brief downtime for affected tokens is the correct security response when a key may be compromised.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Card Tokenisation System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